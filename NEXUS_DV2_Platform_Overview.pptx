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3246120"/>
            <a:ext cx="12024360" cy="54864"/>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0" y="0"/>
            <a:ext cx="3502152" cy="310896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0" y="0"/>
            <a:ext cx="2587752" cy="2011680"/>
          </a:xfrm>
          <a:prstGeom prst="rect">
            <a:avLst/>
          </a:prstGeom>
          <a:solidFill>
            <a:srgbClr val="1E4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8229600" cy="1371600"/>
          </a:xfrm>
          <a:prstGeom prst="rect">
            <a:avLst/>
          </a:prstGeom>
          <a:noFill/>
        </p:spPr>
        <p:txBody>
          <a:bodyPr wrap="square">
            <a:spAutoFit/>
          </a:bodyPr>
          <a:lstStyle/>
          <a:p>
            <a:pPr algn="l"/>
            <a:r>
              <a:rPr sz="7200" b="1" i="0">
                <a:solidFill>
                  <a:srgbClr val="FFFFFF"/>
                </a:solidFill>
              </a:rPr>
              <a:t>NEXUS</a:t>
            </a:r>
          </a:p>
        </p:txBody>
      </p:sp>
      <p:sp>
        <p:nvSpPr>
          <p:cNvPr id="8" name="TextBox 7"/>
          <p:cNvSpPr txBox="1"/>
          <p:nvPr/>
        </p:nvSpPr>
        <p:spPr>
          <a:xfrm>
            <a:off x="548640" y="2103120"/>
            <a:ext cx="8229600" cy="1097280"/>
          </a:xfrm>
          <a:prstGeom prst="rect">
            <a:avLst/>
          </a:prstGeom>
          <a:noFill/>
        </p:spPr>
        <p:txBody>
          <a:bodyPr wrap="square">
            <a:spAutoFit/>
          </a:bodyPr>
          <a:lstStyle/>
          <a:p>
            <a:pPr algn="l"/>
            <a:r>
              <a:rPr sz="5200" b="1" i="0">
                <a:solidFill>
                  <a:srgbClr val="0D8A84"/>
                </a:solidFill>
              </a:rPr>
              <a:t>DV 2.0</a:t>
            </a:r>
          </a:p>
        </p:txBody>
      </p:sp>
      <p:sp>
        <p:nvSpPr>
          <p:cNvPr id="9" name="TextBox 8"/>
          <p:cNvSpPr txBox="1"/>
          <p:nvPr/>
        </p:nvSpPr>
        <p:spPr>
          <a:xfrm>
            <a:off x="548640" y="3429000"/>
            <a:ext cx="9144000" cy="548640"/>
          </a:xfrm>
          <a:prstGeom prst="rect">
            <a:avLst/>
          </a:prstGeom>
          <a:noFill/>
        </p:spPr>
        <p:txBody>
          <a:bodyPr wrap="square">
            <a:spAutoFit/>
          </a:bodyPr>
          <a:lstStyle/>
          <a:p>
            <a:pPr algn="l"/>
            <a:r>
              <a:rPr sz="2000" b="0" i="0">
                <a:solidFill>
                  <a:srgbClr val="A8C7E8"/>
                </a:solidFill>
              </a:rPr>
              <a:t>AI-Assisted Data Vault Automation Platform</a:t>
            </a:r>
          </a:p>
        </p:txBody>
      </p:sp>
      <p:sp>
        <p:nvSpPr>
          <p:cNvPr id="10" name="TextBox 9"/>
          <p:cNvSpPr txBox="1"/>
          <p:nvPr/>
        </p:nvSpPr>
        <p:spPr>
          <a:xfrm>
            <a:off x="548640" y="4023360"/>
            <a:ext cx="10058400" cy="365760"/>
          </a:xfrm>
          <a:prstGeom prst="rect">
            <a:avLst/>
          </a:prstGeom>
          <a:noFill/>
        </p:spPr>
        <p:txBody>
          <a:bodyPr wrap="square">
            <a:spAutoFit/>
          </a:bodyPr>
          <a:lstStyle/>
          <a:p>
            <a:pPr algn="l"/>
            <a:r>
              <a:rPr sz="1300" b="0" i="1">
                <a:solidFill>
                  <a:srgbClr val="708AB0"/>
                </a:solidFill>
              </a:rPr>
              <a:t>Built entirely on Snowflake Cortex  ·  Human-in-the-Loop Design  ·  Enterprise Banking</a:t>
            </a:r>
          </a:p>
        </p:txBody>
      </p:sp>
      <p:sp>
        <p:nvSpPr>
          <p:cNvPr id="11" name="Rectangle 10"/>
          <p:cNvSpPr/>
          <p:nvPr/>
        </p:nvSpPr>
        <p:spPr>
          <a:xfrm>
            <a:off x="0" y="6355080"/>
            <a:ext cx="12188952" cy="502920"/>
          </a:xfrm>
          <a:prstGeom prst="rect">
            <a:avLst/>
          </a:prstGeom>
          <a:solidFill>
            <a:srgbClr val="0A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00800"/>
            <a:ext cx="9144000" cy="365760"/>
          </a:xfrm>
          <a:prstGeom prst="rect">
            <a:avLst/>
          </a:prstGeom>
          <a:noFill/>
        </p:spPr>
        <p:txBody>
          <a:bodyPr wrap="square">
            <a:spAutoFit/>
          </a:bodyPr>
          <a:lstStyle/>
          <a:p>
            <a:pPr algn="l"/>
            <a:r>
              <a:rPr sz="1000" b="0" i="0">
                <a:solidFill>
                  <a:srgbClr val="607AA0"/>
                </a:solidFill>
              </a:rPr>
              <a:t>Confidential  |  Enterprise Data Architecture</a:t>
            </a:r>
          </a:p>
        </p:txBody>
      </p:sp>
      <p:sp>
        <p:nvSpPr>
          <p:cNvPr id="13" name="TextBox 12"/>
          <p:cNvSpPr txBox="1"/>
          <p:nvPr/>
        </p:nvSpPr>
        <p:spPr>
          <a:xfrm>
            <a:off x="10789920" y="6309360"/>
            <a:ext cx="1188720" cy="548640"/>
          </a:xfrm>
          <a:prstGeom prst="rect">
            <a:avLst/>
          </a:prstGeom>
          <a:noFill/>
        </p:spPr>
        <p:txBody>
          <a:bodyPr wrap="square">
            <a:spAutoFit/>
          </a:bodyPr>
          <a:lstStyle/>
          <a:p>
            <a:pPr algn="ctr"/>
            <a:r>
              <a:rPr sz="2800" b="0" i="0">
                <a:solidFill>
                  <a:srgbClr val="29B5E8"/>
                </a:solidFill>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Intent &amp; Design Philosophy</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What NEXUS is built to solve — and how we keep humans in control</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2</a:t>
            </a:r>
          </a:p>
        </p:txBody>
      </p:sp>
      <p:sp>
        <p:nvSpPr>
          <p:cNvPr id="10" name="Rounded Rectangle 9"/>
          <p:cNvSpPr/>
          <p:nvPr/>
        </p:nvSpPr>
        <p:spPr>
          <a:xfrm>
            <a:off x="274320" y="1143000"/>
            <a:ext cx="3749039" cy="4480560"/>
          </a:xfrm>
          <a:prstGeom prst="roundRect">
            <a:avLst>
              <a:gd name="adj" fmla="val 5000"/>
            </a:avLst>
          </a:prstGeom>
          <a:solidFill>
            <a:srgbClr val="FFFFFF"/>
          </a:solidFill>
          <a:ln w="2540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 y="1143000"/>
            <a:ext cx="3749039" cy="640080"/>
          </a:xfrm>
          <a:prstGeom prst="roundRect">
            <a:avLst>
              <a:gd name="adj" fmla="val 4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1207008"/>
            <a:ext cx="3474720" cy="502920"/>
          </a:xfrm>
          <a:prstGeom prst="rect">
            <a:avLst/>
          </a:prstGeom>
          <a:noFill/>
        </p:spPr>
        <p:txBody>
          <a:bodyPr wrap="square">
            <a:spAutoFit/>
          </a:bodyPr>
          <a:lstStyle/>
          <a:p>
            <a:pPr algn="l"/>
            <a:r>
              <a:rPr sz="1500" b="1" i="0">
                <a:solidFill>
                  <a:srgbClr val="FFFFFF"/>
                </a:solidFill>
              </a:rPr>
              <a:t>🤖  AI Accelerates</a:t>
            </a:r>
          </a:p>
        </p:txBody>
      </p:sp>
      <p:sp>
        <p:nvSpPr>
          <p:cNvPr id="13" name="TextBox 12"/>
          <p:cNvSpPr txBox="1"/>
          <p:nvPr/>
        </p:nvSpPr>
        <p:spPr>
          <a:xfrm>
            <a:off x="457200" y="1874519"/>
            <a:ext cx="3383280" cy="3474720"/>
          </a:xfrm>
          <a:prstGeom prst="rect">
            <a:avLst/>
          </a:prstGeom>
          <a:noFill/>
        </p:spPr>
        <p:txBody>
          <a:bodyPr wrap="square">
            <a:spAutoFit/>
          </a:bodyPr>
          <a:lstStyle/>
          <a:p>
            <a:pPr algn="l"/>
            <a:r>
              <a:rPr sz="1150" b="0" i="0">
                <a:solidFill>
                  <a:srgbClr val="3D4D6A"/>
                </a:solidFill>
              </a:rPr>
              <a:t>Claude Opus 4.6 analyzes source table structure, column statistics, and existing vault patterns to propose hubs, links, and satellites — in seconds rather than days.</a:t>
            </a:r>
          </a:p>
        </p:txBody>
      </p:sp>
      <p:sp>
        <p:nvSpPr>
          <p:cNvPr id="14" name="Rounded Rectangle 13"/>
          <p:cNvSpPr/>
          <p:nvPr/>
        </p:nvSpPr>
        <p:spPr>
          <a:xfrm>
            <a:off x="4251959" y="1143000"/>
            <a:ext cx="3749039" cy="4480560"/>
          </a:xfrm>
          <a:prstGeom prst="roundRect">
            <a:avLst>
              <a:gd name="adj" fmla="val 5000"/>
            </a:avLst>
          </a:prstGeom>
          <a:solidFill>
            <a:srgbClr val="FFFFFF"/>
          </a:solidFill>
          <a:ln w="2540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51959" y="1143000"/>
            <a:ext cx="3749039" cy="640080"/>
          </a:xfrm>
          <a:prstGeom prst="roundRect">
            <a:avLst>
              <a:gd name="adj" fmla="val 4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207008"/>
            <a:ext cx="3474720" cy="502920"/>
          </a:xfrm>
          <a:prstGeom prst="rect">
            <a:avLst/>
          </a:prstGeom>
          <a:noFill/>
        </p:spPr>
        <p:txBody>
          <a:bodyPr wrap="square">
            <a:spAutoFit/>
          </a:bodyPr>
          <a:lstStyle/>
          <a:p>
            <a:pPr algn="l"/>
            <a:r>
              <a:rPr sz="1500" b="1" i="0">
                <a:solidFill>
                  <a:srgbClr val="FFFFFF"/>
                </a:solidFill>
              </a:rPr>
              <a:t>👤  Modelers Decide</a:t>
            </a:r>
          </a:p>
        </p:txBody>
      </p:sp>
      <p:sp>
        <p:nvSpPr>
          <p:cNvPr id="17" name="TextBox 16"/>
          <p:cNvSpPr txBox="1"/>
          <p:nvPr/>
        </p:nvSpPr>
        <p:spPr>
          <a:xfrm>
            <a:off x="4434840" y="1874519"/>
            <a:ext cx="3383280" cy="3474720"/>
          </a:xfrm>
          <a:prstGeom prst="rect">
            <a:avLst/>
          </a:prstGeom>
          <a:noFill/>
        </p:spPr>
        <p:txBody>
          <a:bodyPr wrap="square">
            <a:spAutoFit/>
          </a:bodyPr>
          <a:lstStyle/>
          <a:p>
            <a:pPr algn="l"/>
            <a:r>
              <a:rPr sz="1150" b="0" i="0">
                <a:solidFill>
                  <a:srgbClr val="3D4D6A"/>
                </a:solidFill>
              </a:rPr>
              <a:t>Every AI proposal lands in a Design Workbench for review. Modelers can edit names, reassign columns, add notes, split satellites, or reject entirely before anything is written to the registry.</a:t>
            </a:r>
          </a:p>
        </p:txBody>
      </p:sp>
      <p:sp>
        <p:nvSpPr>
          <p:cNvPr id="18" name="Rounded Rectangle 17"/>
          <p:cNvSpPr/>
          <p:nvPr/>
        </p:nvSpPr>
        <p:spPr>
          <a:xfrm>
            <a:off x="8229600" y="1143000"/>
            <a:ext cx="3749039" cy="4480560"/>
          </a:xfrm>
          <a:prstGeom prst="roundRect">
            <a:avLst>
              <a:gd name="adj" fmla="val 5000"/>
            </a:avLst>
          </a:prstGeom>
          <a:solidFill>
            <a:srgbClr val="FFFFFF"/>
          </a:solidFill>
          <a:ln w="2540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0" y="1143000"/>
            <a:ext cx="3749039" cy="640080"/>
          </a:xfrm>
          <a:prstGeom prst="roundRect">
            <a:avLst>
              <a:gd name="adj" fmla="val 4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1207008"/>
            <a:ext cx="3474720" cy="502920"/>
          </a:xfrm>
          <a:prstGeom prst="rect">
            <a:avLst/>
          </a:prstGeom>
          <a:noFill/>
        </p:spPr>
        <p:txBody>
          <a:bodyPr wrap="square">
            <a:spAutoFit/>
          </a:bodyPr>
          <a:lstStyle/>
          <a:p>
            <a:pPr algn="l"/>
            <a:r>
              <a:rPr sz="1500" b="1" i="0">
                <a:solidFill>
                  <a:srgbClr val="FFFFFF"/>
                </a:solidFill>
              </a:rPr>
              <a:t>✅  Governance Enforces</a:t>
            </a:r>
          </a:p>
        </p:txBody>
      </p:sp>
      <p:sp>
        <p:nvSpPr>
          <p:cNvPr id="21" name="TextBox 20"/>
          <p:cNvSpPr txBox="1"/>
          <p:nvPr/>
        </p:nvSpPr>
        <p:spPr>
          <a:xfrm>
            <a:off x="8412480" y="1874519"/>
            <a:ext cx="3383280" cy="3474720"/>
          </a:xfrm>
          <a:prstGeom prst="rect">
            <a:avLst/>
          </a:prstGeom>
          <a:noFill/>
        </p:spPr>
        <p:txBody>
          <a:bodyPr wrap="square">
            <a:spAutoFit/>
          </a:bodyPr>
          <a:lstStyle/>
          <a:p>
            <a:pPr algn="l"/>
            <a:r>
              <a:rPr sz="1150" b="0" i="0">
                <a:solidFill>
                  <a:srgbClr val="3D4D6A"/>
                </a:solidFill>
              </a:rPr>
              <a:t>No entity enters the vault registry without an explicit APPROVE action. Every decision is captured in an immutable audit log — who generated, who edited, who approved, and when.</a:t>
            </a:r>
          </a:p>
        </p:txBody>
      </p:sp>
      <p:sp>
        <p:nvSpPr>
          <p:cNvPr id="22" name="Rounded Rectangle 21"/>
          <p:cNvSpPr/>
          <p:nvPr/>
        </p:nvSpPr>
        <p:spPr>
          <a:xfrm>
            <a:off x="274320" y="5760720"/>
            <a:ext cx="11640312" cy="594360"/>
          </a:xfrm>
          <a:prstGeom prst="roundRect">
            <a:avLst>
              <a:gd name="adj" fmla="val 5000"/>
            </a:avLst>
          </a:prstGeom>
          <a:solidFill>
            <a:srgbClr val="FFF3E0"/>
          </a:solidFill>
          <a:ln w="19050">
            <a:solidFill>
              <a:srgbClr val="E36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806440"/>
            <a:ext cx="11338560" cy="502920"/>
          </a:xfrm>
          <a:prstGeom prst="rect">
            <a:avLst/>
          </a:prstGeom>
          <a:noFill/>
        </p:spPr>
        <p:txBody>
          <a:bodyPr wrap="square">
            <a:spAutoFit/>
          </a:bodyPr>
          <a:lstStyle/>
          <a:p>
            <a:pPr algn="l"/>
            <a:r>
              <a:rPr sz="1050" b="0" i="0">
                <a:solidFill>
                  <a:srgbClr val="7D3C00"/>
                </a:solidFill>
              </a:rPr>
              <a:t>💡  Core principle:  AI provides its best guess with explicit confidence ratings. Modeler overrides always win. The system prompt, abbreviation table, profiling stats, and modeler notes are all passed to the AI as structured context — nothing is left to hallucination.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Human-in-the-Loop Workflow</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Every AI proposal passes through explicit modeler review and approval gates</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3</a:t>
            </a:r>
          </a:p>
        </p:txBody>
      </p:sp>
      <p:sp>
        <p:nvSpPr>
          <p:cNvPr id="10" name="Rounded Rectangle 9"/>
          <p:cNvSpPr/>
          <p:nvPr/>
        </p:nvSpPr>
        <p:spPr>
          <a:xfrm>
            <a:off x="256032" y="1325880"/>
            <a:ext cx="1417320" cy="1005840"/>
          </a:xfrm>
          <a:prstGeom prst="roundRect">
            <a:avLst>
              <a:gd name="adj" fmla="val 6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 y="1371600"/>
            <a:ext cx="1325880" cy="960120"/>
          </a:xfrm>
          <a:prstGeom prst="rect">
            <a:avLst/>
          </a:prstGeom>
          <a:noFill/>
        </p:spPr>
        <p:txBody>
          <a:bodyPr wrap="square">
            <a:spAutoFit/>
          </a:bodyPr>
          <a:lstStyle/>
          <a:p>
            <a:pPr algn="ctr"/>
            <a:r>
              <a:rPr sz="1000" b="1" i="0">
                <a:solidFill>
                  <a:srgbClr val="FFFFFF"/>
                </a:solidFill>
              </a:rPr>
              <a:t>1
Identify
Source</a:t>
            </a:r>
          </a:p>
        </p:txBody>
      </p:sp>
      <p:sp>
        <p:nvSpPr>
          <p:cNvPr id="12" name="TextBox 11"/>
          <p:cNvSpPr txBox="1"/>
          <p:nvPr/>
        </p:nvSpPr>
        <p:spPr>
          <a:xfrm>
            <a:off x="301752" y="2395728"/>
            <a:ext cx="1325880" cy="457200"/>
          </a:xfrm>
          <a:prstGeom prst="rect">
            <a:avLst/>
          </a:prstGeom>
          <a:noFill/>
        </p:spPr>
        <p:txBody>
          <a:bodyPr wrap="square">
            <a:spAutoFit/>
          </a:bodyPr>
          <a:lstStyle/>
          <a:p>
            <a:pPr algn="ctr"/>
            <a:r>
              <a:rPr sz="900" b="0" i="0">
                <a:solidFill>
                  <a:srgbClr val="3D4D6A"/>
                </a:solidFill>
              </a:rPr>
              <a:t>Browse any
Snowflake DB</a:t>
            </a:r>
          </a:p>
        </p:txBody>
      </p:sp>
      <p:cxnSp>
        <p:nvCxnSpPr>
          <p:cNvPr id="13" name="Connector 12"/>
          <p:cNvCxnSpPr/>
          <p:nvPr/>
        </p:nvCxnSpPr>
        <p:spPr>
          <a:xfrm>
            <a:off x="1682496" y="1828800"/>
            <a:ext cx="118872" cy="0"/>
          </a:xfrm>
          <a:prstGeom prst="line">
            <a:avLst/>
          </a:prstGeom>
          <a:ln w="25400">
            <a:solidFill>
              <a:srgbClr val="1A5C9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783080" y="1325880"/>
            <a:ext cx="1417320" cy="1005840"/>
          </a:xfrm>
          <a:prstGeom prst="roundRect">
            <a:avLst>
              <a:gd name="adj" fmla="val 6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0" y="1371600"/>
            <a:ext cx="1325880" cy="960120"/>
          </a:xfrm>
          <a:prstGeom prst="rect">
            <a:avLst/>
          </a:prstGeom>
          <a:noFill/>
        </p:spPr>
        <p:txBody>
          <a:bodyPr wrap="square">
            <a:spAutoFit/>
          </a:bodyPr>
          <a:lstStyle/>
          <a:p>
            <a:pPr algn="ctr"/>
            <a:r>
              <a:rPr sz="1000" b="1" i="0">
                <a:solidFill>
                  <a:srgbClr val="FFFFFF"/>
                </a:solidFill>
              </a:rPr>
              <a:t>2
Profile
Table</a:t>
            </a:r>
          </a:p>
        </p:txBody>
      </p:sp>
      <p:sp>
        <p:nvSpPr>
          <p:cNvPr id="16" name="TextBox 15"/>
          <p:cNvSpPr txBox="1"/>
          <p:nvPr/>
        </p:nvSpPr>
        <p:spPr>
          <a:xfrm>
            <a:off x="1828800" y="2395728"/>
            <a:ext cx="1325880" cy="457200"/>
          </a:xfrm>
          <a:prstGeom prst="rect">
            <a:avLst/>
          </a:prstGeom>
          <a:noFill/>
        </p:spPr>
        <p:txBody>
          <a:bodyPr wrap="square">
            <a:spAutoFit/>
          </a:bodyPr>
          <a:lstStyle/>
          <a:p>
            <a:pPr algn="ctr"/>
            <a:r>
              <a:rPr sz="900" b="0" i="0">
                <a:solidFill>
                  <a:srgbClr val="3D4D6A"/>
                </a:solidFill>
              </a:rPr>
              <a:t>Column stats,
PK scoring</a:t>
            </a:r>
          </a:p>
        </p:txBody>
      </p:sp>
      <p:cxnSp>
        <p:nvCxnSpPr>
          <p:cNvPr id="17" name="Connector 16"/>
          <p:cNvCxnSpPr/>
          <p:nvPr/>
        </p:nvCxnSpPr>
        <p:spPr>
          <a:xfrm>
            <a:off x="3209544" y="1828800"/>
            <a:ext cx="118871" cy="0"/>
          </a:xfrm>
          <a:prstGeom prst="line">
            <a:avLst/>
          </a:prstGeom>
          <a:ln w="25400">
            <a:solidFill>
              <a:srgbClr val="1A5C9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10128" y="1325880"/>
            <a:ext cx="1417320" cy="1005840"/>
          </a:xfrm>
          <a:prstGeom prst="roundRect">
            <a:avLst>
              <a:gd name="adj" fmla="val 6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55848" y="1371600"/>
            <a:ext cx="1325880" cy="960120"/>
          </a:xfrm>
          <a:prstGeom prst="rect">
            <a:avLst/>
          </a:prstGeom>
          <a:noFill/>
        </p:spPr>
        <p:txBody>
          <a:bodyPr wrap="square">
            <a:spAutoFit/>
          </a:bodyPr>
          <a:lstStyle/>
          <a:p>
            <a:pPr algn="ctr"/>
            <a:r>
              <a:rPr sz="1000" b="1" i="0">
                <a:solidFill>
                  <a:srgbClr val="FFFFFF"/>
                </a:solidFill>
              </a:rPr>
              <a:t>3
Review
Stats</a:t>
            </a:r>
          </a:p>
        </p:txBody>
      </p:sp>
      <p:sp>
        <p:nvSpPr>
          <p:cNvPr id="20" name="TextBox 19"/>
          <p:cNvSpPr txBox="1"/>
          <p:nvPr/>
        </p:nvSpPr>
        <p:spPr>
          <a:xfrm>
            <a:off x="3355848" y="2395728"/>
            <a:ext cx="1325880" cy="457200"/>
          </a:xfrm>
          <a:prstGeom prst="rect">
            <a:avLst/>
          </a:prstGeom>
          <a:noFill/>
        </p:spPr>
        <p:txBody>
          <a:bodyPr wrap="square">
            <a:spAutoFit/>
          </a:bodyPr>
          <a:lstStyle/>
          <a:p>
            <a:pPr algn="ctr"/>
            <a:r>
              <a:rPr sz="900" b="0" i="0">
                <a:solidFill>
                  <a:srgbClr val="3D4D6A"/>
                </a:solidFill>
              </a:rPr>
              <a:t>Confirm BK,
change freq</a:t>
            </a:r>
          </a:p>
        </p:txBody>
      </p:sp>
      <p:cxnSp>
        <p:nvCxnSpPr>
          <p:cNvPr id="21" name="Connector 20"/>
          <p:cNvCxnSpPr/>
          <p:nvPr/>
        </p:nvCxnSpPr>
        <p:spPr>
          <a:xfrm>
            <a:off x="4736592" y="1828800"/>
            <a:ext cx="118872" cy="0"/>
          </a:xfrm>
          <a:prstGeom prst="line">
            <a:avLst/>
          </a:prstGeom>
          <a:ln w="25400">
            <a:solidFill>
              <a:srgbClr val="1A5C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37176" y="1325880"/>
            <a:ext cx="1417320" cy="1005840"/>
          </a:xfrm>
          <a:prstGeom prst="roundRect">
            <a:avLst>
              <a:gd name="adj" fmla="val 6000"/>
            </a:avLst>
          </a:prstGeom>
          <a:solidFill>
            <a:srgbClr val="E36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2896" y="1371600"/>
            <a:ext cx="1325880" cy="960120"/>
          </a:xfrm>
          <a:prstGeom prst="rect">
            <a:avLst/>
          </a:prstGeom>
          <a:noFill/>
        </p:spPr>
        <p:txBody>
          <a:bodyPr wrap="square">
            <a:spAutoFit/>
          </a:bodyPr>
          <a:lstStyle/>
          <a:p>
            <a:pPr algn="ctr"/>
            <a:r>
              <a:rPr sz="1000" b="1" i="0">
                <a:solidFill>
                  <a:srgbClr val="FFFFFF"/>
                </a:solidFill>
              </a:rPr>
              <a:t>4
AI Generate
Proposal</a:t>
            </a:r>
          </a:p>
        </p:txBody>
      </p:sp>
      <p:sp>
        <p:nvSpPr>
          <p:cNvPr id="24" name="TextBox 23"/>
          <p:cNvSpPr txBox="1"/>
          <p:nvPr/>
        </p:nvSpPr>
        <p:spPr>
          <a:xfrm>
            <a:off x="4882896" y="2395728"/>
            <a:ext cx="1325880" cy="457200"/>
          </a:xfrm>
          <a:prstGeom prst="rect">
            <a:avLst/>
          </a:prstGeom>
          <a:noFill/>
        </p:spPr>
        <p:txBody>
          <a:bodyPr wrap="square">
            <a:spAutoFit/>
          </a:bodyPr>
          <a:lstStyle/>
          <a:p>
            <a:pPr algn="ctr"/>
            <a:r>
              <a:rPr sz="900" b="0" i="0">
                <a:solidFill>
                  <a:srgbClr val="3D4D6A"/>
                </a:solidFill>
              </a:rPr>
              <a:t>Cortex call
w/ full context</a:t>
            </a:r>
          </a:p>
        </p:txBody>
      </p:sp>
      <p:cxnSp>
        <p:nvCxnSpPr>
          <p:cNvPr id="25" name="Connector 24"/>
          <p:cNvCxnSpPr/>
          <p:nvPr/>
        </p:nvCxnSpPr>
        <p:spPr>
          <a:xfrm>
            <a:off x="6263640" y="1828800"/>
            <a:ext cx="118872" cy="0"/>
          </a:xfrm>
          <a:prstGeom prst="line">
            <a:avLst/>
          </a:prstGeom>
          <a:ln w="25400">
            <a:solidFill>
              <a:srgbClr val="1A5C9A"/>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364224" y="1325880"/>
            <a:ext cx="1417320" cy="1005840"/>
          </a:xfrm>
          <a:prstGeom prst="roundRect">
            <a:avLst>
              <a:gd name="adj" fmla="val 6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1371600"/>
            <a:ext cx="1325880" cy="960120"/>
          </a:xfrm>
          <a:prstGeom prst="rect">
            <a:avLst/>
          </a:prstGeom>
          <a:noFill/>
        </p:spPr>
        <p:txBody>
          <a:bodyPr wrap="square">
            <a:spAutoFit/>
          </a:bodyPr>
          <a:lstStyle/>
          <a:p>
            <a:pPr algn="ctr"/>
            <a:r>
              <a:rPr sz="1000" b="1" i="0">
                <a:solidFill>
                  <a:srgbClr val="FFFFFF"/>
                </a:solidFill>
              </a:rPr>
              <a:t>5
Design
Workbench</a:t>
            </a:r>
          </a:p>
        </p:txBody>
      </p:sp>
      <p:sp>
        <p:nvSpPr>
          <p:cNvPr id="28" name="TextBox 27"/>
          <p:cNvSpPr txBox="1"/>
          <p:nvPr/>
        </p:nvSpPr>
        <p:spPr>
          <a:xfrm>
            <a:off x="6409944" y="2395728"/>
            <a:ext cx="1325880" cy="457200"/>
          </a:xfrm>
          <a:prstGeom prst="rect">
            <a:avLst/>
          </a:prstGeom>
          <a:noFill/>
        </p:spPr>
        <p:txBody>
          <a:bodyPr wrap="square">
            <a:spAutoFit/>
          </a:bodyPr>
          <a:lstStyle/>
          <a:p>
            <a:pPr algn="ctr"/>
            <a:r>
              <a:rPr sz="900" b="0" i="0">
                <a:solidFill>
                  <a:srgbClr val="3D4D6A"/>
                </a:solidFill>
              </a:rPr>
              <a:t>Edit entities
&amp; columns</a:t>
            </a:r>
          </a:p>
        </p:txBody>
      </p:sp>
      <p:cxnSp>
        <p:nvCxnSpPr>
          <p:cNvPr id="29" name="Connector 28"/>
          <p:cNvCxnSpPr/>
          <p:nvPr/>
        </p:nvCxnSpPr>
        <p:spPr>
          <a:xfrm>
            <a:off x="7790688" y="1828800"/>
            <a:ext cx="118871" cy="0"/>
          </a:xfrm>
          <a:prstGeom prst="line">
            <a:avLst/>
          </a:prstGeom>
          <a:ln w="25400">
            <a:solidFill>
              <a:srgbClr val="1A5C9A"/>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891271" y="1325880"/>
            <a:ext cx="1417320" cy="1005840"/>
          </a:xfrm>
          <a:prstGeom prst="roundRect">
            <a:avLst>
              <a:gd name="adj" fmla="val 6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36992" y="1371600"/>
            <a:ext cx="1325880" cy="960120"/>
          </a:xfrm>
          <a:prstGeom prst="rect">
            <a:avLst/>
          </a:prstGeom>
          <a:noFill/>
        </p:spPr>
        <p:txBody>
          <a:bodyPr wrap="square">
            <a:spAutoFit/>
          </a:bodyPr>
          <a:lstStyle/>
          <a:p>
            <a:pPr algn="ctr"/>
            <a:r>
              <a:rPr sz="1000" b="1" i="0">
                <a:solidFill>
                  <a:srgbClr val="FFFFFF"/>
                </a:solidFill>
              </a:rPr>
              <a:t>6
Approve /
Reject</a:t>
            </a:r>
          </a:p>
        </p:txBody>
      </p:sp>
      <p:sp>
        <p:nvSpPr>
          <p:cNvPr id="32" name="TextBox 31"/>
          <p:cNvSpPr txBox="1"/>
          <p:nvPr/>
        </p:nvSpPr>
        <p:spPr>
          <a:xfrm>
            <a:off x="7936992" y="2395728"/>
            <a:ext cx="1325880" cy="457200"/>
          </a:xfrm>
          <a:prstGeom prst="rect">
            <a:avLst/>
          </a:prstGeom>
          <a:noFill/>
        </p:spPr>
        <p:txBody>
          <a:bodyPr wrap="square">
            <a:spAutoFit/>
          </a:bodyPr>
          <a:lstStyle/>
          <a:p>
            <a:pPr algn="ctr"/>
            <a:r>
              <a:rPr sz="900" b="0" i="0">
                <a:solidFill>
                  <a:srgbClr val="3D4D6A"/>
                </a:solidFill>
              </a:rPr>
              <a:t>Gate before
registry write</a:t>
            </a:r>
          </a:p>
        </p:txBody>
      </p:sp>
      <p:cxnSp>
        <p:nvCxnSpPr>
          <p:cNvPr id="33" name="Connector 32"/>
          <p:cNvCxnSpPr/>
          <p:nvPr/>
        </p:nvCxnSpPr>
        <p:spPr>
          <a:xfrm>
            <a:off x="9317736" y="1828800"/>
            <a:ext cx="118871" cy="0"/>
          </a:xfrm>
          <a:prstGeom prst="line">
            <a:avLst/>
          </a:prstGeom>
          <a:ln w="25400">
            <a:solidFill>
              <a:srgbClr val="1A5C9A"/>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418319" y="1325880"/>
            <a:ext cx="1417320" cy="1005840"/>
          </a:xfrm>
          <a:prstGeom prst="roundRect">
            <a:avLst>
              <a:gd name="adj" fmla="val 6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64040" y="1371600"/>
            <a:ext cx="1325880" cy="960120"/>
          </a:xfrm>
          <a:prstGeom prst="rect">
            <a:avLst/>
          </a:prstGeom>
          <a:noFill/>
        </p:spPr>
        <p:txBody>
          <a:bodyPr wrap="square">
            <a:spAutoFit/>
          </a:bodyPr>
          <a:lstStyle/>
          <a:p>
            <a:pPr algn="ctr"/>
            <a:r>
              <a:rPr sz="1000" b="1" i="0">
                <a:solidFill>
                  <a:srgbClr val="FFFFFF"/>
                </a:solidFill>
              </a:rPr>
              <a:t>7
Write to
Registry</a:t>
            </a:r>
          </a:p>
        </p:txBody>
      </p:sp>
      <p:sp>
        <p:nvSpPr>
          <p:cNvPr id="36" name="TextBox 35"/>
          <p:cNvSpPr txBox="1"/>
          <p:nvPr/>
        </p:nvSpPr>
        <p:spPr>
          <a:xfrm>
            <a:off x="9464040" y="2395728"/>
            <a:ext cx="1325880" cy="457200"/>
          </a:xfrm>
          <a:prstGeom prst="rect">
            <a:avLst/>
          </a:prstGeom>
          <a:noFill/>
        </p:spPr>
        <p:txBody>
          <a:bodyPr wrap="square">
            <a:spAutoFit/>
          </a:bodyPr>
          <a:lstStyle/>
          <a:p>
            <a:pPr algn="ctr"/>
            <a:r>
              <a:rPr sz="900" b="0" i="0">
                <a:solidFill>
                  <a:srgbClr val="3D4D6A"/>
                </a:solidFill>
              </a:rPr>
              <a:t>DDL +
dbt ready</a:t>
            </a:r>
          </a:p>
        </p:txBody>
      </p:sp>
      <p:sp>
        <p:nvSpPr>
          <p:cNvPr id="37" name="Rectangle 36"/>
          <p:cNvSpPr/>
          <p:nvPr/>
        </p:nvSpPr>
        <p:spPr>
          <a:xfrm>
            <a:off x="274320" y="2971800"/>
            <a:ext cx="11640312" cy="36576"/>
          </a:xfrm>
          <a:prstGeom prst="rect">
            <a:avLst/>
          </a:prstGeom>
          <a:solidFill>
            <a:srgbClr val="CC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4320" y="3090672"/>
            <a:ext cx="5394960" cy="685800"/>
          </a:xfrm>
          <a:prstGeom prst="roundRect">
            <a:avLst>
              <a:gd name="adj" fmla="val 5000"/>
            </a:avLst>
          </a:prstGeom>
          <a:solidFill>
            <a:srgbClr val="E8F8F0"/>
          </a:solidFill>
          <a:ln w="190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127248"/>
            <a:ext cx="5029200" cy="594360"/>
          </a:xfrm>
          <a:prstGeom prst="rect">
            <a:avLst/>
          </a:prstGeom>
          <a:noFill/>
        </p:spPr>
        <p:txBody>
          <a:bodyPr wrap="square">
            <a:spAutoFit/>
          </a:bodyPr>
          <a:lstStyle/>
          <a:p>
            <a:pPr algn="l"/>
            <a:r>
              <a:rPr sz="1050" b="0" i="0">
                <a:solidFill>
                  <a:srgbClr val="0A5C35"/>
                </a:solidFill>
              </a:rPr>
              <a:t>✅  APPROVE  →  Entity written to META.DV_ENTITY + DV_ENTITY_COLUMN  →  Available for dbt generation</a:t>
            </a:r>
          </a:p>
        </p:txBody>
      </p:sp>
      <p:sp>
        <p:nvSpPr>
          <p:cNvPr id="40" name="Rounded Rectangle 39"/>
          <p:cNvSpPr/>
          <p:nvPr/>
        </p:nvSpPr>
        <p:spPr>
          <a:xfrm>
            <a:off x="5943600" y="3090672"/>
            <a:ext cx="3017520" cy="685800"/>
          </a:xfrm>
          <a:prstGeom prst="roundRect">
            <a:avLst>
              <a:gd name="adj" fmla="val 5000"/>
            </a:avLst>
          </a:prstGeom>
          <a:solidFill>
            <a:srgbClr val="FDEDEC"/>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80760" y="3127248"/>
            <a:ext cx="2743200" cy="594360"/>
          </a:xfrm>
          <a:prstGeom prst="rect">
            <a:avLst/>
          </a:prstGeom>
          <a:noFill/>
        </p:spPr>
        <p:txBody>
          <a:bodyPr wrap="square">
            <a:spAutoFit/>
          </a:bodyPr>
          <a:lstStyle/>
          <a:p>
            <a:pPr algn="l"/>
            <a:r>
              <a:rPr sz="1050" b="0" i="0">
                <a:solidFill>
                  <a:srgbClr val="7D0A0A"/>
                </a:solidFill>
              </a:rPr>
              <a:t>❌  REJECT  →  Proposal archived,
no registry change</a:t>
            </a:r>
          </a:p>
        </p:txBody>
      </p:sp>
      <p:sp>
        <p:nvSpPr>
          <p:cNvPr id="42" name="Rounded Rectangle 41"/>
          <p:cNvSpPr/>
          <p:nvPr/>
        </p:nvSpPr>
        <p:spPr>
          <a:xfrm>
            <a:off x="9235440" y="3090672"/>
            <a:ext cx="2679192" cy="685800"/>
          </a:xfrm>
          <a:prstGeom prst="roundRect">
            <a:avLst>
              <a:gd name="adj" fmla="val 5000"/>
            </a:avLst>
          </a:prstGeom>
          <a:solidFill>
            <a:srgbClr val="FFF3E0"/>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72600" y="3127248"/>
            <a:ext cx="2423160" cy="594360"/>
          </a:xfrm>
          <a:prstGeom prst="rect">
            <a:avLst/>
          </a:prstGeom>
          <a:noFill/>
        </p:spPr>
        <p:txBody>
          <a:bodyPr wrap="square">
            <a:spAutoFit/>
          </a:bodyPr>
          <a:lstStyle/>
          <a:p>
            <a:pPr algn="l"/>
            <a:r>
              <a:rPr sz="1050" b="0" i="0">
                <a:solidFill>
                  <a:srgbClr val="7D4A00"/>
                </a:solidFill>
              </a:rPr>
              <a:t>🔄  RE-RUN  →  Add modeler
notes, regenerate</a:t>
            </a:r>
          </a:p>
        </p:txBody>
      </p:sp>
      <p:sp>
        <p:nvSpPr>
          <p:cNvPr id="44" name="Rounded Rectangle 43"/>
          <p:cNvSpPr/>
          <p:nvPr/>
        </p:nvSpPr>
        <p:spPr>
          <a:xfrm>
            <a:off x="274320" y="3931920"/>
            <a:ext cx="11640312" cy="2423160"/>
          </a:xfrm>
          <a:prstGeom prst="roundRect">
            <a:avLst>
              <a:gd name="adj" fmla="val 5000"/>
            </a:avLst>
          </a:prstGeom>
          <a:solidFill>
            <a:srgbClr val="FFFFFF"/>
          </a:solidFill>
          <a:ln w="12700">
            <a:solidFill>
              <a:srgbClr val="CC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77639"/>
            <a:ext cx="5486400" cy="320040"/>
          </a:xfrm>
          <a:prstGeom prst="rect">
            <a:avLst/>
          </a:prstGeom>
          <a:noFill/>
        </p:spPr>
        <p:txBody>
          <a:bodyPr wrap="square">
            <a:spAutoFit/>
          </a:bodyPr>
          <a:lstStyle/>
          <a:p>
            <a:pPr algn="l"/>
            <a:r>
              <a:rPr sz="1300" b="1" i="0">
                <a:solidFill>
                  <a:srgbClr val="142B4C"/>
                </a:solidFill>
              </a:rPr>
              <a:t>Key Human Control Points</a:t>
            </a:r>
          </a:p>
        </p:txBody>
      </p:sp>
      <p:sp>
        <p:nvSpPr>
          <p:cNvPr id="46" name="TextBox 45"/>
          <p:cNvSpPr txBox="1"/>
          <p:nvPr/>
        </p:nvSpPr>
        <p:spPr>
          <a:xfrm>
            <a:off x="457200" y="4370832"/>
            <a:ext cx="2834640" cy="347472"/>
          </a:xfrm>
          <a:prstGeom prst="rect">
            <a:avLst/>
          </a:prstGeom>
          <a:noFill/>
        </p:spPr>
        <p:txBody>
          <a:bodyPr wrap="square">
            <a:spAutoFit/>
          </a:bodyPr>
          <a:lstStyle/>
          <a:p>
            <a:pPr algn="l"/>
            <a:r>
              <a:rPr sz="1000" b="1" i="0">
                <a:solidFill>
                  <a:srgbClr val="142B4C"/>
                </a:solidFill>
              </a:rPr>
              <a:t>▸  Modeler Notes Override</a:t>
            </a:r>
          </a:p>
        </p:txBody>
      </p:sp>
      <p:sp>
        <p:nvSpPr>
          <p:cNvPr id="47" name="TextBox 46"/>
          <p:cNvSpPr txBox="1"/>
          <p:nvPr/>
        </p:nvSpPr>
        <p:spPr>
          <a:xfrm>
            <a:off x="3337560" y="4370832"/>
            <a:ext cx="8321040" cy="347472"/>
          </a:xfrm>
          <a:prstGeom prst="rect">
            <a:avLst/>
          </a:prstGeom>
          <a:noFill/>
        </p:spPr>
        <p:txBody>
          <a:bodyPr wrap="square">
            <a:spAutoFit/>
          </a:bodyPr>
          <a:lstStyle/>
          <a:p>
            <a:pPr algn="l"/>
            <a:r>
              <a:rPr sz="1000" b="0" i="0">
                <a:solidFill>
                  <a:srgbClr val="3D4D6A"/>
                </a:solidFill>
              </a:rPr>
              <a:t>Free-text field that overrides ALL statistical PK detection. AI explicitly instructed to cite these notes in every entity rationale.</a:t>
            </a:r>
          </a:p>
        </p:txBody>
      </p:sp>
      <p:sp>
        <p:nvSpPr>
          <p:cNvPr id="48" name="Rectangle 47"/>
          <p:cNvSpPr/>
          <p:nvPr/>
        </p:nvSpPr>
        <p:spPr>
          <a:xfrm>
            <a:off x="365760" y="4718304"/>
            <a:ext cx="11430000" cy="1828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754880"/>
            <a:ext cx="2834640" cy="347472"/>
          </a:xfrm>
          <a:prstGeom prst="rect">
            <a:avLst/>
          </a:prstGeom>
          <a:noFill/>
        </p:spPr>
        <p:txBody>
          <a:bodyPr wrap="square">
            <a:spAutoFit/>
          </a:bodyPr>
          <a:lstStyle/>
          <a:p>
            <a:pPr algn="l"/>
            <a:r>
              <a:rPr sz="1000" b="1" i="0">
                <a:solidFill>
                  <a:srgbClr val="142B4C"/>
                </a:solidFill>
              </a:rPr>
              <a:t>▸  PK Confirmation</a:t>
            </a:r>
          </a:p>
        </p:txBody>
      </p:sp>
      <p:sp>
        <p:nvSpPr>
          <p:cNvPr id="50" name="TextBox 49"/>
          <p:cNvSpPr txBox="1"/>
          <p:nvPr/>
        </p:nvSpPr>
        <p:spPr>
          <a:xfrm>
            <a:off x="3337560" y="4754880"/>
            <a:ext cx="8321040" cy="347472"/>
          </a:xfrm>
          <a:prstGeom prst="rect">
            <a:avLst/>
          </a:prstGeom>
          <a:noFill/>
        </p:spPr>
        <p:txBody>
          <a:bodyPr wrap="square">
            <a:spAutoFit/>
          </a:bodyPr>
          <a:lstStyle/>
          <a:p>
            <a:pPr algn="l"/>
            <a:r>
              <a:rPr sz="1000" b="0" i="0">
                <a:solidFill>
                  <a:srgbClr val="3D4D6A"/>
                </a:solidFill>
              </a:rPr>
              <a:t>Modeler selects or confirms the business key from ranked PK candidates before AI proposal is generated — injected as a 100-score candidate.</a:t>
            </a:r>
          </a:p>
        </p:txBody>
      </p:sp>
      <p:sp>
        <p:nvSpPr>
          <p:cNvPr id="51" name="Rectangle 50"/>
          <p:cNvSpPr/>
          <p:nvPr/>
        </p:nvSpPr>
        <p:spPr>
          <a:xfrm>
            <a:off x="365760" y="5102352"/>
            <a:ext cx="11430000" cy="1828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5138928"/>
            <a:ext cx="2834640" cy="347472"/>
          </a:xfrm>
          <a:prstGeom prst="rect">
            <a:avLst/>
          </a:prstGeom>
          <a:noFill/>
        </p:spPr>
        <p:txBody>
          <a:bodyPr wrap="square">
            <a:spAutoFit/>
          </a:bodyPr>
          <a:lstStyle/>
          <a:p>
            <a:pPr algn="l"/>
            <a:r>
              <a:rPr sz="1000" b="1" i="0">
                <a:solidFill>
                  <a:srgbClr val="142B4C"/>
                </a:solidFill>
              </a:rPr>
              <a:t>▸  Column Definitions</a:t>
            </a:r>
          </a:p>
        </p:txBody>
      </p:sp>
      <p:sp>
        <p:nvSpPr>
          <p:cNvPr id="53" name="TextBox 52"/>
          <p:cNvSpPr txBox="1"/>
          <p:nvPr/>
        </p:nvSpPr>
        <p:spPr>
          <a:xfrm>
            <a:off x="3337560" y="5138928"/>
            <a:ext cx="8321040" cy="347472"/>
          </a:xfrm>
          <a:prstGeom prst="rect">
            <a:avLst/>
          </a:prstGeom>
          <a:noFill/>
        </p:spPr>
        <p:txBody>
          <a:bodyPr wrap="square">
            <a:spAutoFit/>
          </a:bodyPr>
          <a:lstStyle/>
          <a:p>
            <a:pPr algn="l"/>
            <a:r>
              <a:rPr sz="1000" b="0" i="0">
                <a:solidFill>
                  <a:srgbClr val="3D4D6A"/>
                </a:solidFill>
              </a:rPr>
              <a:t>Approved definitions stored in META.DV_COLUMN_DEFINITIONS are passed verbatim to AI — no paraphrasing allowed.</a:t>
            </a:r>
          </a:p>
        </p:txBody>
      </p:sp>
      <p:sp>
        <p:nvSpPr>
          <p:cNvPr id="54" name="Rectangle 53"/>
          <p:cNvSpPr/>
          <p:nvPr/>
        </p:nvSpPr>
        <p:spPr>
          <a:xfrm>
            <a:off x="365760" y="5486400"/>
            <a:ext cx="11430000" cy="1828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5522976"/>
            <a:ext cx="2834640" cy="347472"/>
          </a:xfrm>
          <a:prstGeom prst="rect">
            <a:avLst/>
          </a:prstGeom>
          <a:noFill/>
        </p:spPr>
        <p:txBody>
          <a:bodyPr wrap="square">
            <a:spAutoFit/>
          </a:bodyPr>
          <a:lstStyle/>
          <a:p>
            <a:pPr algn="l"/>
            <a:r>
              <a:rPr sz="1000" b="1" i="0">
                <a:solidFill>
                  <a:srgbClr val="142B4C"/>
                </a:solidFill>
              </a:rPr>
              <a:t>▸  Workspace Versioning</a:t>
            </a:r>
          </a:p>
        </p:txBody>
      </p:sp>
      <p:sp>
        <p:nvSpPr>
          <p:cNvPr id="56" name="TextBox 55"/>
          <p:cNvSpPr txBox="1"/>
          <p:nvPr/>
        </p:nvSpPr>
        <p:spPr>
          <a:xfrm>
            <a:off x="3337560" y="5522976"/>
            <a:ext cx="8321040" cy="347472"/>
          </a:xfrm>
          <a:prstGeom prst="rect">
            <a:avLst/>
          </a:prstGeom>
          <a:noFill/>
        </p:spPr>
        <p:txBody>
          <a:bodyPr wrap="square">
            <a:spAutoFit/>
          </a:bodyPr>
          <a:lstStyle/>
          <a:p>
            <a:pPr algn="l"/>
            <a:r>
              <a:rPr sz="1000" b="0" i="0">
                <a:solidFill>
                  <a:srgbClr val="3D4D6A"/>
                </a:solidFill>
              </a:rPr>
              <a:t>Every edit creates a new version. PARENT_WORKSPACE tracks lineage. Status: DRAFT → IN_REVIEW → APPROVED / SUPERSEDED.</a:t>
            </a:r>
          </a:p>
        </p:txBody>
      </p:sp>
      <p:sp>
        <p:nvSpPr>
          <p:cNvPr id="57" name="Rectangle 56"/>
          <p:cNvSpPr/>
          <p:nvPr/>
        </p:nvSpPr>
        <p:spPr>
          <a:xfrm>
            <a:off x="365760" y="5870448"/>
            <a:ext cx="11430000" cy="1828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5907024"/>
            <a:ext cx="2834640" cy="347472"/>
          </a:xfrm>
          <a:prstGeom prst="rect">
            <a:avLst/>
          </a:prstGeom>
          <a:noFill/>
        </p:spPr>
        <p:txBody>
          <a:bodyPr wrap="square">
            <a:spAutoFit/>
          </a:bodyPr>
          <a:lstStyle/>
          <a:p>
            <a:pPr algn="l"/>
            <a:r>
              <a:rPr sz="1000" b="1" i="0">
                <a:solidFill>
                  <a:srgbClr val="142B4C"/>
                </a:solidFill>
              </a:rPr>
              <a:t>▸  Immutable Audit Log</a:t>
            </a:r>
          </a:p>
        </p:txBody>
      </p:sp>
      <p:sp>
        <p:nvSpPr>
          <p:cNvPr id="59" name="TextBox 58"/>
          <p:cNvSpPr txBox="1"/>
          <p:nvPr/>
        </p:nvSpPr>
        <p:spPr>
          <a:xfrm>
            <a:off x="3337560" y="5907024"/>
            <a:ext cx="8321040" cy="347472"/>
          </a:xfrm>
          <a:prstGeom prst="rect">
            <a:avLst/>
          </a:prstGeom>
          <a:noFill/>
        </p:spPr>
        <p:txBody>
          <a:bodyPr wrap="square">
            <a:spAutoFit/>
          </a:bodyPr>
          <a:lstStyle/>
          <a:p>
            <a:pPr algn="l"/>
            <a:r>
              <a:rPr sz="1000" b="0" i="0">
                <a:solidFill>
                  <a:srgbClr val="3D4D6A"/>
                </a:solidFill>
              </a:rPr>
              <a:t>Every action (PROFILE, GENERATE, SAVE, APPROVE, EXPORT) written to META.DV_AUDIT_LOG with timestamp and user.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High-Level Architecture</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All components run inside Snowflake — no external tools required</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4</a:t>
            </a:r>
          </a:p>
        </p:txBody>
      </p:sp>
      <p:sp>
        <p:nvSpPr>
          <p:cNvPr id="10" name="Rounded Rectangle 9"/>
          <p:cNvSpPr/>
          <p:nvPr/>
        </p:nvSpPr>
        <p:spPr>
          <a:xfrm>
            <a:off x="201168" y="1097280"/>
            <a:ext cx="11786616" cy="5349240"/>
          </a:xfrm>
          <a:prstGeom prst="roundRect">
            <a:avLst>
              <a:gd name="adj" fmla="val 5000"/>
            </a:avLst>
          </a:prstGeom>
          <a:solidFill>
            <a:srgbClr val="F0F5FF"/>
          </a:solidFill>
          <a:ln w="254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133856"/>
            <a:ext cx="4572000" cy="292608"/>
          </a:xfrm>
          <a:prstGeom prst="rect">
            <a:avLst/>
          </a:prstGeom>
          <a:noFill/>
        </p:spPr>
        <p:txBody>
          <a:bodyPr wrap="square">
            <a:spAutoFit/>
          </a:bodyPr>
          <a:lstStyle/>
          <a:p>
            <a:pPr algn="l"/>
            <a:r>
              <a:rPr sz="1000" b="1" i="0">
                <a:solidFill>
                  <a:srgbClr val="29B5E8"/>
                </a:solidFill>
              </a:rPr>
              <a:t>❄  Snowflake Platform Boundary</a:t>
            </a:r>
          </a:p>
        </p:txBody>
      </p:sp>
      <p:sp>
        <p:nvSpPr>
          <p:cNvPr id="12" name="Rounded Rectangle 11"/>
          <p:cNvSpPr/>
          <p:nvPr/>
        </p:nvSpPr>
        <p:spPr>
          <a:xfrm>
            <a:off x="256032" y="1481328"/>
            <a:ext cx="1572768" cy="4773168"/>
          </a:xfrm>
          <a:prstGeom prst="roundRect">
            <a:avLst>
              <a:gd name="adj" fmla="val 5000"/>
            </a:avLst>
          </a:prstGeom>
          <a:solidFill>
            <a:srgbClr val="EBEEF4"/>
          </a:solidFill>
          <a:ln w="1905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08760"/>
            <a:ext cx="1463040" cy="502920"/>
          </a:xfrm>
          <a:prstGeom prst="rect">
            <a:avLst/>
          </a:prstGeom>
          <a:noFill/>
        </p:spPr>
        <p:txBody>
          <a:bodyPr wrap="square">
            <a:spAutoFit/>
          </a:bodyPr>
          <a:lstStyle/>
          <a:p>
            <a:pPr algn="ctr"/>
            <a:r>
              <a:rPr sz="950" b="1" i="0">
                <a:solidFill>
                  <a:srgbClr val="3A4A60"/>
                </a:solidFill>
              </a:rPr>
              <a:t>SOURCE
SYSTEMS</a:t>
            </a:r>
          </a:p>
        </p:txBody>
      </p:sp>
      <p:sp>
        <p:nvSpPr>
          <p:cNvPr id="14" name="Rounded Rectangle 13"/>
          <p:cNvSpPr/>
          <p:nvPr/>
        </p:nvSpPr>
        <p:spPr>
          <a:xfrm>
            <a:off x="347472" y="2148840"/>
            <a:ext cx="1389888" cy="566928"/>
          </a:xfrm>
          <a:prstGeom prst="roundRect">
            <a:avLst>
              <a:gd name="adj" fmla="val 5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2221992"/>
            <a:ext cx="1389888" cy="411480"/>
          </a:xfrm>
          <a:prstGeom prst="rect">
            <a:avLst/>
          </a:prstGeom>
          <a:noFill/>
        </p:spPr>
        <p:txBody>
          <a:bodyPr wrap="square">
            <a:spAutoFit/>
          </a:bodyPr>
          <a:lstStyle/>
          <a:p>
            <a:pPr algn="ctr"/>
            <a:r>
              <a:rPr sz="900" b="1" i="0">
                <a:solidFill>
                  <a:srgbClr val="FFFFFF"/>
                </a:solidFill>
              </a:rPr>
              <a:t>ACCT_SYS</a:t>
            </a:r>
          </a:p>
        </p:txBody>
      </p:sp>
      <p:sp>
        <p:nvSpPr>
          <p:cNvPr id="16" name="Rounded Rectangle 15"/>
          <p:cNvSpPr/>
          <p:nvPr/>
        </p:nvSpPr>
        <p:spPr>
          <a:xfrm>
            <a:off x="347472" y="3108960"/>
            <a:ext cx="1389888" cy="566928"/>
          </a:xfrm>
          <a:prstGeom prst="roundRect">
            <a:avLst>
              <a:gd name="adj" fmla="val 5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3182112"/>
            <a:ext cx="1389888" cy="411480"/>
          </a:xfrm>
          <a:prstGeom prst="rect">
            <a:avLst/>
          </a:prstGeom>
          <a:noFill/>
        </p:spPr>
        <p:txBody>
          <a:bodyPr wrap="square">
            <a:spAutoFit/>
          </a:bodyPr>
          <a:lstStyle/>
          <a:p>
            <a:pPr algn="ctr"/>
            <a:r>
              <a:rPr sz="900" b="1" i="0">
                <a:solidFill>
                  <a:srgbClr val="FFFFFF"/>
                </a:solidFill>
              </a:rPr>
              <a:t>CRM_SYS</a:t>
            </a:r>
          </a:p>
        </p:txBody>
      </p:sp>
      <p:sp>
        <p:nvSpPr>
          <p:cNvPr id="18" name="Rounded Rectangle 17"/>
          <p:cNvSpPr/>
          <p:nvPr/>
        </p:nvSpPr>
        <p:spPr>
          <a:xfrm>
            <a:off x="347472" y="4069080"/>
            <a:ext cx="1389888" cy="566928"/>
          </a:xfrm>
          <a:prstGeom prst="roundRect">
            <a:avLst>
              <a:gd name="adj" fmla="val 5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4142232"/>
            <a:ext cx="1389888" cy="411480"/>
          </a:xfrm>
          <a:prstGeom prst="rect">
            <a:avLst/>
          </a:prstGeom>
          <a:noFill/>
        </p:spPr>
        <p:txBody>
          <a:bodyPr wrap="square">
            <a:spAutoFit/>
          </a:bodyPr>
          <a:lstStyle/>
          <a:p>
            <a:pPr algn="ctr"/>
            <a:r>
              <a:rPr sz="900" b="1" i="0">
                <a:solidFill>
                  <a:srgbClr val="FFFFFF"/>
                </a:solidFill>
              </a:rPr>
              <a:t>LOAN_SYS</a:t>
            </a:r>
          </a:p>
        </p:txBody>
      </p:sp>
      <p:sp>
        <p:nvSpPr>
          <p:cNvPr id="20" name="Rounded Rectangle 19"/>
          <p:cNvSpPr/>
          <p:nvPr/>
        </p:nvSpPr>
        <p:spPr>
          <a:xfrm>
            <a:off x="347472" y="5029200"/>
            <a:ext cx="1389888" cy="566928"/>
          </a:xfrm>
          <a:prstGeom prst="roundRect">
            <a:avLst>
              <a:gd name="adj" fmla="val 5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5102352"/>
            <a:ext cx="1389888" cy="411480"/>
          </a:xfrm>
          <a:prstGeom prst="rect">
            <a:avLst/>
          </a:prstGeom>
          <a:noFill/>
        </p:spPr>
        <p:txBody>
          <a:bodyPr wrap="square">
            <a:spAutoFit/>
          </a:bodyPr>
          <a:lstStyle/>
          <a:p>
            <a:pPr algn="ctr"/>
            <a:r>
              <a:rPr sz="900" b="1" i="0">
                <a:solidFill>
                  <a:srgbClr val="FFFFFF"/>
                </a:solidFill>
              </a:rPr>
              <a:t>REF Data</a:t>
            </a:r>
          </a:p>
        </p:txBody>
      </p:sp>
      <p:cxnSp>
        <p:nvCxnSpPr>
          <p:cNvPr id="22" name="Connector 21"/>
          <p:cNvCxnSpPr/>
          <p:nvPr/>
        </p:nvCxnSpPr>
        <p:spPr>
          <a:xfrm>
            <a:off x="1737360" y="3429000"/>
            <a:ext cx="457200" cy="0"/>
          </a:xfrm>
          <a:prstGeom prst="line">
            <a:avLst/>
          </a:prstGeom>
          <a:ln w="25400">
            <a:solidFill>
              <a:srgbClr val="3A4A6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673352" y="3520440"/>
            <a:ext cx="1280160" cy="365760"/>
          </a:xfrm>
          <a:prstGeom prst="rect">
            <a:avLst/>
          </a:prstGeom>
          <a:noFill/>
        </p:spPr>
        <p:txBody>
          <a:bodyPr wrap="square">
            <a:spAutoFit/>
          </a:bodyPr>
          <a:lstStyle/>
          <a:p>
            <a:pPr algn="ctr"/>
            <a:r>
              <a:rPr sz="750" b="0" i="1">
                <a:solidFill>
                  <a:srgbClr val="3A4A60"/>
                </a:solidFill>
              </a:rPr>
              <a:t>any accessible
Snowflake role</a:t>
            </a:r>
          </a:p>
        </p:txBody>
      </p:sp>
      <p:sp>
        <p:nvSpPr>
          <p:cNvPr id="24" name="Rounded Rectangle 23"/>
          <p:cNvSpPr/>
          <p:nvPr/>
        </p:nvSpPr>
        <p:spPr>
          <a:xfrm>
            <a:off x="2240280" y="1444752"/>
            <a:ext cx="3246120" cy="2011680"/>
          </a:xfrm>
          <a:prstGeom prst="roundRect">
            <a:avLst>
              <a:gd name="adj" fmla="val 5000"/>
            </a:avLst>
          </a:prstGeom>
          <a:solidFill>
            <a:srgbClr val="FFFFFF"/>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240280" y="1444752"/>
            <a:ext cx="3246120" cy="475488"/>
          </a:xfrm>
          <a:prstGeom prst="roundRect">
            <a:avLst>
              <a:gd name="adj" fmla="val 4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31720" y="1481328"/>
            <a:ext cx="3017520" cy="384048"/>
          </a:xfrm>
          <a:prstGeom prst="rect">
            <a:avLst/>
          </a:prstGeom>
          <a:noFill/>
        </p:spPr>
        <p:txBody>
          <a:bodyPr wrap="square">
            <a:spAutoFit/>
          </a:bodyPr>
          <a:lstStyle/>
          <a:p>
            <a:pPr algn="l"/>
            <a:r>
              <a:rPr sz="1000" b="1" i="0">
                <a:solidFill>
                  <a:srgbClr val="FFFFFF"/>
                </a:solidFill>
              </a:rPr>
              <a:t>Phase 1 · Registry &amp; Foundation</a:t>
            </a:r>
          </a:p>
        </p:txBody>
      </p:sp>
      <p:sp>
        <p:nvSpPr>
          <p:cNvPr id="27" name="TextBox 26"/>
          <p:cNvSpPr txBox="1"/>
          <p:nvPr/>
        </p:nvSpPr>
        <p:spPr>
          <a:xfrm>
            <a:off x="2331720" y="1993392"/>
            <a:ext cx="3017520" cy="228600"/>
          </a:xfrm>
          <a:prstGeom prst="rect">
            <a:avLst/>
          </a:prstGeom>
          <a:noFill/>
        </p:spPr>
        <p:txBody>
          <a:bodyPr wrap="square">
            <a:spAutoFit/>
          </a:bodyPr>
          <a:lstStyle/>
          <a:p>
            <a:pPr algn="l"/>
            <a:r>
              <a:rPr sz="850" b="0" i="0">
                <a:solidFill>
                  <a:srgbClr val="3D4D6A"/>
                </a:solidFill>
              </a:rPr>
              <a:t>· META.DV_ENTITY  &amp;  DV_ENTITY_COLUMN</a:t>
            </a:r>
          </a:p>
        </p:txBody>
      </p:sp>
      <p:sp>
        <p:nvSpPr>
          <p:cNvPr id="28" name="TextBox 27"/>
          <p:cNvSpPr txBox="1"/>
          <p:nvPr/>
        </p:nvSpPr>
        <p:spPr>
          <a:xfrm>
            <a:off x="2331720" y="2221992"/>
            <a:ext cx="3017520" cy="228600"/>
          </a:xfrm>
          <a:prstGeom prst="rect">
            <a:avLst/>
          </a:prstGeom>
          <a:noFill/>
        </p:spPr>
        <p:txBody>
          <a:bodyPr wrap="square">
            <a:spAutoFit/>
          </a:bodyPr>
          <a:lstStyle/>
          <a:p>
            <a:pPr algn="l"/>
            <a:r>
              <a:rPr sz="850" b="0" i="0">
                <a:solidFill>
                  <a:srgbClr val="3D4D6A"/>
                </a:solidFill>
              </a:rPr>
              <a:t>· META.DV_HASH_DEFINITION</a:t>
            </a:r>
          </a:p>
        </p:txBody>
      </p:sp>
      <p:sp>
        <p:nvSpPr>
          <p:cNvPr id="29" name="TextBox 28"/>
          <p:cNvSpPr txBox="1"/>
          <p:nvPr/>
        </p:nvSpPr>
        <p:spPr>
          <a:xfrm>
            <a:off x="2331720" y="2450592"/>
            <a:ext cx="3017520" cy="228600"/>
          </a:xfrm>
          <a:prstGeom prst="rect">
            <a:avLst/>
          </a:prstGeom>
          <a:noFill/>
        </p:spPr>
        <p:txBody>
          <a:bodyPr wrap="square">
            <a:spAutoFit/>
          </a:bodyPr>
          <a:lstStyle/>
          <a:p>
            <a:pPr algn="l"/>
            <a:r>
              <a:rPr sz="850" b="0" i="0">
                <a:solidFill>
                  <a:srgbClr val="3D4D6A"/>
                </a:solidFill>
              </a:rPr>
              <a:t>· META.DV_SOURCE_MAPPING</a:t>
            </a:r>
          </a:p>
        </p:txBody>
      </p:sp>
      <p:sp>
        <p:nvSpPr>
          <p:cNvPr id="30" name="TextBox 29"/>
          <p:cNvSpPr txBox="1"/>
          <p:nvPr/>
        </p:nvSpPr>
        <p:spPr>
          <a:xfrm>
            <a:off x="2331720" y="2679192"/>
            <a:ext cx="3017520" cy="228600"/>
          </a:xfrm>
          <a:prstGeom prst="rect">
            <a:avLst/>
          </a:prstGeom>
          <a:noFill/>
        </p:spPr>
        <p:txBody>
          <a:bodyPr wrap="square">
            <a:spAutoFit/>
          </a:bodyPr>
          <a:lstStyle/>
          <a:p>
            <a:pPr algn="l"/>
            <a:r>
              <a:rPr sz="850" b="0" i="0">
                <a:solidFill>
                  <a:srgbClr val="3D4D6A"/>
                </a:solidFill>
              </a:rPr>
              <a:t>· META.DV_ABBREVIATION  (Erwin .ABR sync)</a:t>
            </a:r>
          </a:p>
        </p:txBody>
      </p:sp>
      <p:sp>
        <p:nvSpPr>
          <p:cNvPr id="31" name="TextBox 30"/>
          <p:cNvSpPr txBox="1"/>
          <p:nvPr/>
        </p:nvSpPr>
        <p:spPr>
          <a:xfrm>
            <a:off x="2331720" y="2907792"/>
            <a:ext cx="3017520" cy="228600"/>
          </a:xfrm>
          <a:prstGeom prst="rect">
            <a:avLst/>
          </a:prstGeom>
          <a:noFill/>
        </p:spPr>
        <p:txBody>
          <a:bodyPr wrap="square">
            <a:spAutoFit/>
          </a:bodyPr>
          <a:lstStyle/>
          <a:p>
            <a:pPr algn="l"/>
            <a:r>
              <a:rPr sz="850" b="0" i="0">
                <a:solidFill>
                  <a:srgbClr val="3D4D6A"/>
                </a:solidFill>
              </a:rPr>
              <a:t>· META.DV_AI_SYSTEM_PROMPT  (versioned)</a:t>
            </a:r>
          </a:p>
        </p:txBody>
      </p:sp>
      <p:sp>
        <p:nvSpPr>
          <p:cNvPr id="32" name="TextBox 31"/>
          <p:cNvSpPr txBox="1"/>
          <p:nvPr/>
        </p:nvSpPr>
        <p:spPr>
          <a:xfrm>
            <a:off x="2331720" y="3136392"/>
            <a:ext cx="3017520" cy="228600"/>
          </a:xfrm>
          <a:prstGeom prst="rect">
            <a:avLst/>
          </a:prstGeom>
          <a:noFill/>
        </p:spPr>
        <p:txBody>
          <a:bodyPr wrap="square">
            <a:spAutoFit/>
          </a:bodyPr>
          <a:lstStyle/>
          <a:p>
            <a:pPr algn="l"/>
            <a:r>
              <a:rPr sz="850" b="0" i="0">
                <a:solidFill>
                  <a:srgbClr val="3D4D6A"/>
                </a:solidFill>
              </a:rPr>
              <a:t>· META.DV_AUDIT_LOG</a:t>
            </a:r>
          </a:p>
        </p:txBody>
      </p:sp>
      <p:sp>
        <p:nvSpPr>
          <p:cNvPr id="33" name="Rounded Rectangle 32"/>
          <p:cNvSpPr/>
          <p:nvPr/>
        </p:nvSpPr>
        <p:spPr>
          <a:xfrm>
            <a:off x="2240280" y="3593592"/>
            <a:ext cx="3246120" cy="1664208"/>
          </a:xfrm>
          <a:prstGeom prst="roundRect">
            <a:avLst>
              <a:gd name="adj" fmla="val 5000"/>
            </a:avLst>
          </a:prstGeom>
          <a:solidFill>
            <a:srgbClr val="FFFFFF"/>
          </a:solidFill>
          <a:ln w="1905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240280" y="3593592"/>
            <a:ext cx="3246120" cy="411480"/>
          </a:xfrm>
          <a:prstGeom prst="roundRect">
            <a:avLst>
              <a:gd name="adj" fmla="val 4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31720" y="3611880"/>
            <a:ext cx="3017520" cy="347472"/>
          </a:xfrm>
          <a:prstGeom prst="rect">
            <a:avLst/>
          </a:prstGeom>
          <a:noFill/>
        </p:spPr>
        <p:txBody>
          <a:bodyPr wrap="square">
            <a:spAutoFit/>
          </a:bodyPr>
          <a:lstStyle/>
          <a:p>
            <a:pPr algn="l"/>
            <a:r>
              <a:rPr sz="1000" b="1" i="0">
                <a:solidFill>
                  <a:srgbClr val="FFFFFF"/>
                </a:solidFill>
              </a:rPr>
              <a:t>Phase 2 · Profiling Engine</a:t>
            </a:r>
          </a:p>
        </p:txBody>
      </p:sp>
      <p:sp>
        <p:nvSpPr>
          <p:cNvPr id="36" name="TextBox 35"/>
          <p:cNvSpPr txBox="1"/>
          <p:nvPr/>
        </p:nvSpPr>
        <p:spPr>
          <a:xfrm>
            <a:off x="2331720" y="4069080"/>
            <a:ext cx="3017520" cy="237744"/>
          </a:xfrm>
          <a:prstGeom prst="rect">
            <a:avLst/>
          </a:prstGeom>
          <a:noFill/>
        </p:spPr>
        <p:txBody>
          <a:bodyPr wrap="square">
            <a:spAutoFit/>
          </a:bodyPr>
          <a:lstStyle/>
          <a:p>
            <a:pPr algn="l"/>
            <a:r>
              <a:rPr sz="850" b="0" i="0">
                <a:solidFill>
                  <a:srgbClr val="3D4D6A"/>
                </a:solidFill>
              </a:rPr>
              <a:t>· SP_PROFILE_TABLE  (EXACT / HLL)</a:t>
            </a:r>
          </a:p>
        </p:txBody>
      </p:sp>
      <p:sp>
        <p:nvSpPr>
          <p:cNvPr id="37" name="TextBox 36"/>
          <p:cNvSpPr txBox="1"/>
          <p:nvPr/>
        </p:nvSpPr>
        <p:spPr>
          <a:xfrm>
            <a:off x="2331720" y="4325112"/>
            <a:ext cx="3017520" cy="237744"/>
          </a:xfrm>
          <a:prstGeom prst="rect">
            <a:avLst/>
          </a:prstGeom>
          <a:noFill/>
        </p:spPr>
        <p:txBody>
          <a:bodyPr wrap="square">
            <a:spAutoFit/>
          </a:bodyPr>
          <a:lstStyle/>
          <a:p>
            <a:pPr algn="l"/>
            <a:r>
              <a:rPr sz="850" b="0" i="0">
                <a:solidFill>
                  <a:srgbClr val="3D4D6A"/>
                </a:solidFill>
              </a:rPr>
              <a:t>· SP_DETECT_PK_CANDIDATES</a:t>
            </a:r>
          </a:p>
        </p:txBody>
      </p:sp>
      <p:sp>
        <p:nvSpPr>
          <p:cNvPr id="38" name="TextBox 37"/>
          <p:cNvSpPr txBox="1"/>
          <p:nvPr/>
        </p:nvSpPr>
        <p:spPr>
          <a:xfrm>
            <a:off x="2331720" y="4581144"/>
            <a:ext cx="3017520" cy="237744"/>
          </a:xfrm>
          <a:prstGeom prst="rect">
            <a:avLst/>
          </a:prstGeom>
          <a:noFill/>
        </p:spPr>
        <p:txBody>
          <a:bodyPr wrap="square">
            <a:spAutoFit/>
          </a:bodyPr>
          <a:lstStyle/>
          <a:p>
            <a:pPr algn="l"/>
            <a:r>
              <a:rPr sz="850" b="0" i="0">
                <a:solidFill>
                  <a:srgbClr val="3D4D6A"/>
                </a:solidFill>
              </a:rPr>
              <a:t>· SP_DETECT_CHANGE_FREQUENCY</a:t>
            </a:r>
          </a:p>
        </p:txBody>
      </p:sp>
      <p:sp>
        <p:nvSpPr>
          <p:cNvPr id="39" name="TextBox 38"/>
          <p:cNvSpPr txBox="1"/>
          <p:nvPr/>
        </p:nvSpPr>
        <p:spPr>
          <a:xfrm>
            <a:off x="2331720" y="4837176"/>
            <a:ext cx="3017520" cy="237744"/>
          </a:xfrm>
          <a:prstGeom prst="rect">
            <a:avLst/>
          </a:prstGeom>
          <a:noFill/>
        </p:spPr>
        <p:txBody>
          <a:bodyPr wrap="square">
            <a:spAutoFit/>
          </a:bodyPr>
          <a:lstStyle/>
          <a:p>
            <a:pPr algn="l"/>
            <a:r>
              <a:rPr sz="850" b="0" i="0">
                <a:solidFill>
                  <a:srgbClr val="3D4D6A"/>
                </a:solidFill>
              </a:rPr>
              <a:t>· META.DV_PROFILING_RUN + RESULTS</a:t>
            </a:r>
          </a:p>
        </p:txBody>
      </p:sp>
      <p:cxnSp>
        <p:nvCxnSpPr>
          <p:cNvPr id="40" name="Connector 39"/>
          <p:cNvCxnSpPr/>
          <p:nvPr/>
        </p:nvCxnSpPr>
        <p:spPr>
          <a:xfrm>
            <a:off x="3858768" y="3456432"/>
            <a:ext cx="0" cy="137160"/>
          </a:xfrm>
          <a:prstGeom prst="line">
            <a:avLst/>
          </a:prstGeom>
          <a:ln w="19050">
            <a:solidFill>
              <a:srgbClr val="0D8A8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669280" y="1444752"/>
            <a:ext cx="3291840" cy="2011680"/>
          </a:xfrm>
          <a:prstGeom prst="roundRect">
            <a:avLst>
              <a:gd name="adj" fmla="val 5000"/>
            </a:avLst>
          </a:prstGeom>
          <a:solidFill>
            <a:srgbClr val="FFFFFF"/>
          </a:solidFill>
          <a:ln w="19050">
            <a:solidFill>
              <a:srgbClr val="E36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669280" y="1444752"/>
            <a:ext cx="3291840" cy="475488"/>
          </a:xfrm>
          <a:prstGeom prst="roundRect">
            <a:avLst>
              <a:gd name="adj" fmla="val 4000"/>
            </a:avLst>
          </a:prstGeom>
          <a:solidFill>
            <a:srgbClr val="E36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60720" y="1481328"/>
            <a:ext cx="3108960" cy="384048"/>
          </a:xfrm>
          <a:prstGeom prst="rect">
            <a:avLst/>
          </a:prstGeom>
          <a:noFill/>
        </p:spPr>
        <p:txBody>
          <a:bodyPr wrap="square">
            <a:spAutoFit/>
          </a:bodyPr>
          <a:lstStyle/>
          <a:p>
            <a:pPr algn="l"/>
            <a:r>
              <a:rPr sz="1000" b="1" i="0">
                <a:solidFill>
                  <a:srgbClr val="FFFFFF"/>
                </a:solidFill>
              </a:rPr>
              <a:t>Phase 3 · AI Design Engine</a:t>
            </a:r>
          </a:p>
        </p:txBody>
      </p:sp>
      <p:sp>
        <p:nvSpPr>
          <p:cNvPr id="44" name="TextBox 43"/>
          <p:cNvSpPr txBox="1"/>
          <p:nvPr/>
        </p:nvSpPr>
        <p:spPr>
          <a:xfrm>
            <a:off x="5760720" y="1993392"/>
            <a:ext cx="3017520" cy="237744"/>
          </a:xfrm>
          <a:prstGeom prst="rect">
            <a:avLst/>
          </a:prstGeom>
          <a:noFill/>
        </p:spPr>
        <p:txBody>
          <a:bodyPr wrap="square">
            <a:spAutoFit/>
          </a:bodyPr>
          <a:lstStyle/>
          <a:p>
            <a:pPr algn="l"/>
            <a:r>
              <a:rPr sz="850" b="0" i="0">
                <a:solidFill>
                  <a:srgbClr val="3D4D6A"/>
                </a:solidFill>
              </a:rPr>
              <a:t>· SP_GENERATE_DV_PROPOSAL</a:t>
            </a:r>
          </a:p>
        </p:txBody>
      </p:sp>
      <p:sp>
        <p:nvSpPr>
          <p:cNvPr id="45" name="TextBox 44"/>
          <p:cNvSpPr txBox="1"/>
          <p:nvPr/>
        </p:nvSpPr>
        <p:spPr>
          <a:xfrm>
            <a:off x="5760720" y="2249424"/>
            <a:ext cx="3017520" cy="237744"/>
          </a:xfrm>
          <a:prstGeom prst="rect">
            <a:avLst/>
          </a:prstGeom>
          <a:noFill/>
        </p:spPr>
        <p:txBody>
          <a:bodyPr wrap="square">
            <a:spAutoFit/>
          </a:bodyPr>
          <a:lstStyle/>
          <a:p>
            <a:pPr algn="l"/>
            <a:r>
              <a:rPr sz="850" b="0" i="0">
                <a:solidFill>
                  <a:srgbClr val="3D4D6A"/>
                </a:solidFill>
              </a:rPr>
              <a:t>· Cortex AI_COMPLETE (Claude Opus 4.6)</a:t>
            </a:r>
          </a:p>
        </p:txBody>
      </p:sp>
      <p:sp>
        <p:nvSpPr>
          <p:cNvPr id="46" name="TextBox 45"/>
          <p:cNvSpPr txBox="1"/>
          <p:nvPr/>
        </p:nvSpPr>
        <p:spPr>
          <a:xfrm>
            <a:off x="5760720" y="2505456"/>
            <a:ext cx="3017520" cy="237744"/>
          </a:xfrm>
          <a:prstGeom prst="rect">
            <a:avLst/>
          </a:prstGeom>
          <a:noFill/>
        </p:spPr>
        <p:txBody>
          <a:bodyPr wrap="square">
            <a:spAutoFit/>
          </a:bodyPr>
          <a:lstStyle/>
          <a:p>
            <a:pPr algn="l"/>
            <a:r>
              <a:rPr sz="850" b="0" i="0">
                <a:solidFill>
                  <a:srgbClr val="3D4D6A"/>
                </a:solidFill>
              </a:rPr>
              <a:t>· META.DV_DESIGN_PROPOSAL</a:t>
            </a:r>
          </a:p>
        </p:txBody>
      </p:sp>
      <p:sp>
        <p:nvSpPr>
          <p:cNvPr id="47" name="TextBox 46"/>
          <p:cNvSpPr txBox="1"/>
          <p:nvPr/>
        </p:nvSpPr>
        <p:spPr>
          <a:xfrm>
            <a:off x="5760720" y="2761488"/>
            <a:ext cx="3017520" cy="237744"/>
          </a:xfrm>
          <a:prstGeom prst="rect">
            <a:avLst/>
          </a:prstGeom>
          <a:noFill/>
        </p:spPr>
        <p:txBody>
          <a:bodyPr wrap="square">
            <a:spAutoFit/>
          </a:bodyPr>
          <a:lstStyle/>
          <a:p>
            <a:pPr algn="l"/>
            <a:r>
              <a:rPr sz="850" b="0" i="0">
                <a:solidFill>
                  <a:srgbClr val="3D4D6A"/>
                </a:solidFill>
              </a:rPr>
              <a:t>· META.DV_DESIGN_WORKSPACE  (versioned)</a:t>
            </a:r>
          </a:p>
        </p:txBody>
      </p:sp>
      <p:sp>
        <p:nvSpPr>
          <p:cNvPr id="48" name="TextBox 47"/>
          <p:cNvSpPr txBox="1"/>
          <p:nvPr/>
        </p:nvSpPr>
        <p:spPr>
          <a:xfrm>
            <a:off x="5760720" y="3017520"/>
            <a:ext cx="3017520" cy="237744"/>
          </a:xfrm>
          <a:prstGeom prst="rect">
            <a:avLst/>
          </a:prstGeom>
          <a:noFill/>
        </p:spPr>
        <p:txBody>
          <a:bodyPr wrap="square">
            <a:spAutoFit/>
          </a:bodyPr>
          <a:lstStyle/>
          <a:p>
            <a:pPr algn="l"/>
            <a:r>
              <a:rPr sz="850" b="0" i="0">
                <a:solidFill>
                  <a:srgbClr val="3D4D6A"/>
                </a:solidFill>
              </a:rPr>
              <a:t>· Modeler Notes  ·  Confidence flags</a:t>
            </a:r>
          </a:p>
        </p:txBody>
      </p:sp>
      <p:cxnSp>
        <p:nvCxnSpPr>
          <p:cNvPr id="49" name="Connector 48"/>
          <p:cNvCxnSpPr/>
          <p:nvPr/>
        </p:nvCxnSpPr>
        <p:spPr>
          <a:xfrm>
            <a:off x="5486400" y="2743200"/>
            <a:ext cx="182880" cy="0"/>
          </a:xfrm>
          <a:prstGeom prst="line">
            <a:avLst/>
          </a:prstGeom>
          <a:ln w="25400">
            <a:solidFill>
              <a:srgbClr val="E36C1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376672" y="2788920"/>
            <a:ext cx="804672" cy="347472"/>
          </a:xfrm>
          <a:prstGeom prst="rect">
            <a:avLst/>
          </a:prstGeom>
          <a:noFill/>
        </p:spPr>
        <p:txBody>
          <a:bodyPr wrap="square">
            <a:spAutoFit/>
          </a:bodyPr>
          <a:lstStyle/>
          <a:p>
            <a:pPr algn="ctr"/>
            <a:r>
              <a:rPr sz="750" b="0" i="1">
                <a:solidFill>
                  <a:srgbClr val="E36C1A"/>
                </a:solidFill>
              </a:rPr>
              <a:t>profiling
results</a:t>
            </a:r>
          </a:p>
        </p:txBody>
      </p:sp>
      <p:sp>
        <p:nvSpPr>
          <p:cNvPr id="51" name="Rounded Rectangle 50"/>
          <p:cNvSpPr/>
          <p:nvPr/>
        </p:nvSpPr>
        <p:spPr>
          <a:xfrm>
            <a:off x="5669280" y="3593592"/>
            <a:ext cx="3291840" cy="1664208"/>
          </a:xfrm>
          <a:prstGeom prst="roundRect">
            <a:avLst>
              <a:gd name="adj" fmla="val 5000"/>
            </a:avLst>
          </a:prstGeom>
          <a:solidFill>
            <a:srgbClr val="FFFFFF"/>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669280" y="3593592"/>
            <a:ext cx="3291840" cy="411480"/>
          </a:xfrm>
          <a:prstGeom prst="roundRect">
            <a:avLst>
              <a:gd name="adj" fmla="val 4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60720" y="3611880"/>
            <a:ext cx="3108960" cy="347472"/>
          </a:xfrm>
          <a:prstGeom prst="rect">
            <a:avLst/>
          </a:prstGeom>
          <a:noFill/>
        </p:spPr>
        <p:txBody>
          <a:bodyPr wrap="square">
            <a:spAutoFit/>
          </a:bodyPr>
          <a:lstStyle/>
          <a:p>
            <a:pPr algn="l"/>
            <a:r>
              <a:rPr sz="1000" b="1" i="0">
                <a:solidFill>
                  <a:srgbClr val="FFFFFF"/>
                </a:solidFill>
              </a:rPr>
              <a:t>Streamlit in Snowflake (UI)</a:t>
            </a:r>
          </a:p>
        </p:txBody>
      </p:sp>
      <p:sp>
        <p:nvSpPr>
          <p:cNvPr id="54" name="TextBox 53"/>
          <p:cNvSpPr txBox="1"/>
          <p:nvPr/>
        </p:nvSpPr>
        <p:spPr>
          <a:xfrm>
            <a:off x="5760720" y="4069080"/>
            <a:ext cx="3108960" cy="237744"/>
          </a:xfrm>
          <a:prstGeom prst="rect">
            <a:avLst/>
          </a:prstGeom>
          <a:noFill/>
        </p:spPr>
        <p:txBody>
          <a:bodyPr wrap="square">
            <a:spAutoFit/>
          </a:bodyPr>
          <a:lstStyle/>
          <a:p>
            <a:pPr algn="l"/>
            <a:r>
              <a:rPr sz="850" b="0" i="0">
                <a:solidFill>
                  <a:srgbClr val="3D4D6A"/>
                </a:solidFill>
              </a:rPr>
              <a:t>· Identify Source  ·  Profile &amp; Review</a:t>
            </a:r>
          </a:p>
        </p:txBody>
      </p:sp>
      <p:sp>
        <p:nvSpPr>
          <p:cNvPr id="55" name="TextBox 54"/>
          <p:cNvSpPr txBox="1"/>
          <p:nvPr/>
        </p:nvSpPr>
        <p:spPr>
          <a:xfrm>
            <a:off x="5760720" y="4325112"/>
            <a:ext cx="3108960" cy="237744"/>
          </a:xfrm>
          <a:prstGeom prst="rect">
            <a:avLst/>
          </a:prstGeom>
          <a:noFill/>
        </p:spPr>
        <p:txBody>
          <a:bodyPr wrap="square">
            <a:spAutoFit/>
          </a:bodyPr>
          <a:lstStyle/>
          <a:p>
            <a:pPr algn="l"/>
            <a:r>
              <a:rPr sz="850" b="0" i="0">
                <a:solidFill>
                  <a:srgbClr val="3D4D6A"/>
                </a:solidFill>
              </a:rPr>
              <a:t>· Design Workbench  ·  Edit + Approve</a:t>
            </a:r>
          </a:p>
        </p:txBody>
      </p:sp>
      <p:sp>
        <p:nvSpPr>
          <p:cNvPr id="56" name="TextBox 55"/>
          <p:cNvSpPr txBox="1"/>
          <p:nvPr/>
        </p:nvSpPr>
        <p:spPr>
          <a:xfrm>
            <a:off x="5760720" y="4581144"/>
            <a:ext cx="3108960" cy="237744"/>
          </a:xfrm>
          <a:prstGeom prst="rect">
            <a:avLst/>
          </a:prstGeom>
          <a:noFill/>
        </p:spPr>
        <p:txBody>
          <a:bodyPr wrap="square">
            <a:spAutoFit/>
          </a:bodyPr>
          <a:lstStyle/>
          <a:p>
            <a:pPr algn="l"/>
            <a:r>
              <a:rPr sz="850" b="0" i="0">
                <a:solidFill>
                  <a:srgbClr val="3D4D6A"/>
                </a:solidFill>
              </a:rPr>
              <a:t>· ER Diagram (Mermaid/D3)</a:t>
            </a:r>
          </a:p>
        </p:txBody>
      </p:sp>
      <p:sp>
        <p:nvSpPr>
          <p:cNvPr id="57" name="TextBox 56"/>
          <p:cNvSpPr txBox="1"/>
          <p:nvPr/>
        </p:nvSpPr>
        <p:spPr>
          <a:xfrm>
            <a:off x="5760720" y="4837176"/>
            <a:ext cx="3108960" cy="237744"/>
          </a:xfrm>
          <a:prstGeom prst="rect">
            <a:avLst/>
          </a:prstGeom>
          <a:noFill/>
        </p:spPr>
        <p:txBody>
          <a:bodyPr wrap="square">
            <a:spAutoFit/>
          </a:bodyPr>
          <a:lstStyle/>
          <a:p>
            <a:pPr algn="l"/>
            <a:r>
              <a:rPr sz="850" b="0" i="0">
                <a:solidFill>
                  <a:srgbClr val="3D4D6A"/>
                </a:solidFill>
              </a:rPr>
              <a:t>· Generate dbt (Phase 4)</a:t>
            </a:r>
          </a:p>
        </p:txBody>
      </p:sp>
      <p:cxnSp>
        <p:nvCxnSpPr>
          <p:cNvPr id="58" name="Connector 57"/>
          <p:cNvCxnSpPr/>
          <p:nvPr/>
        </p:nvCxnSpPr>
        <p:spPr>
          <a:xfrm>
            <a:off x="7315200" y="3456432"/>
            <a:ext cx="0" cy="137160"/>
          </a:xfrm>
          <a:prstGeom prst="line">
            <a:avLst/>
          </a:prstGeom>
          <a:ln w="19050">
            <a:solidFill>
              <a:srgbClr val="1A5C9A"/>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189720" y="1444752"/>
            <a:ext cx="2697480" cy="4727448"/>
          </a:xfrm>
          <a:prstGeom prst="roundRect">
            <a:avLst>
              <a:gd name="adj" fmla="val 5000"/>
            </a:avLst>
          </a:prstGeom>
          <a:solidFill>
            <a:srgbClr val="FFFFFF"/>
          </a:solidFill>
          <a:ln w="190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189720" y="1444752"/>
            <a:ext cx="2697480" cy="475488"/>
          </a:xfrm>
          <a:prstGeom prst="roundRect">
            <a:avLst>
              <a:gd name="adj" fmla="val 4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281160" y="1481328"/>
            <a:ext cx="2514600" cy="384048"/>
          </a:xfrm>
          <a:prstGeom prst="rect">
            <a:avLst/>
          </a:prstGeom>
          <a:noFill/>
        </p:spPr>
        <p:txBody>
          <a:bodyPr wrap="square">
            <a:spAutoFit/>
          </a:bodyPr>
          <a:lstStyle/>
          <a:p>
            <a:pPr algn="l"/>
            <a:r>
              <a:rPr sz="1000" b="1" i="0">
                <a:solidFill>
                  <a:srgbClr val="FFFFFF"/>
                </a:solidFill>
              </a:rPr>
              <a:t>Phase 4 · Output</a:t>
            </a:r>
          </a:p>
        </p:txBody>
      </p:sp>
      <p:sp>
        <p:nvSpPr>
          <p:cNvPr id="62" name="Rounded Rectangle 61"/>
          <p:cNvSpPr/>
          <p:nvPr/>
        </p:nvSpPr>
        <p:spPr>
          <a:xfrm>
            <a:off x="9281160" y="2057400"/>
            <a:ext cx="2514600" cy="713232"/>
          </a:xfrm>
          <a:prstGeom prst="roundRect">
            <a:avLst>
              <a:gd name="adj" fmla="val 5000"/>
            </a:avLst>
          </a:prstGeom>
          <a:solidFill>
            <a:srgbClr val="EBF9EF"/>
          </a:solidFill>
          <a:ln w="63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72600" y="2093976"/>
            <a:ext cx="2331720" cy="274320"/>
          </a:xfrm>
          <a:prstGeom prst="rect">
            <a:avLst/>
          </a:prstGeom>
          <a:noFill/>
        </p:spPr>
        <p:txBody>
          <a:bodyPr wrap="square">
            <a:spAutoFit/>
          </a:bodyPr>
          <a:lstStyle/>
          <a:p>
            <a:pPr algn="l"/>
            <a:r>
              <a:rPr sz="900" b="1" i="0">
                <a:solidFill>
                  <a:srgbClr val="198A55"/>
                </a:solidFill>
              </a:rPr>
              <a:t>RAW_VAULT Schema</a:t>
            </a:r>
          </a:p>
        </p:txBody>
      </p:sp>
      <p:sp>
        <p:nvSpPr>
          <p:cNvPr id="64" name="TextBox 63"/>
          <p:cNvSpPr txBox="1"/>
          <p:nvPr/>
        </p:nvSpPr>
        <p:spPr>
          <a:xfrm>
            <a:off x="9372600" y="2368296"/>
            <a:ext cx="2331720" cy="347472"/>
          </a:xfrm>
          <a:prstGeom prst="rect">
            <a:avLst/>
          </a:prstGeom>
          <a:noFill/>
        </p:spPr>
        <p:txBody>
          <a:bodyPr wrap="square">
            <a:spAutoFit/>
          </a:bodyPr>
          <a:lstStyle/>
          <a:p>
            <a:pPr algn="l"/>
            <a:r>
              <a:rPr sz="800" b="0" i="0">
                <a:solidFill>
                  <a:srgbClr val="3D4D6A"/>
                </a:solidFill>
              </a:rPr>
              <a:t>HUBs, LNKs, SATs
DDL generated from registry</a:t>
            </a:r>
          </a:p>
        </p:txBody>
      </p:sp>
      <p:sp>
        <p:nvSpPr>
          <p:cNvPr id="65" name="Rounded Rectangle 64"/>
          <p:cNvSpPr/>
          <p:nvPr/>
        </p:nvSpPr>
        <p:spPr>
          <a:xfrm>
            <a:off x="9281160" y="2880360"/>
            <a:ext cx="2514600" cy="713232"/>
          </a:xfrm>
          <a:prstGeom prst="roundRect">
            <a:avLst>
              <a:gd name="adj" fmla="val 5000"/>
            </a:avLst>
          </a:prstGeom>
          <a:solidFill>
            <a:srgbClr val="EBF9EF"/>
          </a:solidFill>
          <a:ln w="63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72600" y="2916936"/>
            <a:ext cx="2331720" cy="274320"/>
          </a:xfrm>
          <a:prstGeom prst="rect">
            <a:avLst/>
          </a:prstGeom>
          <a:noFill/>
        </p:spPr>
        <p:txBody>
          <a:bodyPr wrap="square">
            <a:spAutoFit/>
          </a:bodyPr>
          <a:lstStyle/>
          <a:p>
            <a:pPr algn="l"/>
            <a:r>
              <a:rPr sz="900" b="1" i="0">
                <a:solidFill>
                  <a:srgbClr val="198A55"/>
                </a:solidFill>
              </a:rPr>
              <a:t>dbt Models</a:t>
            </a:r>
          </a:p>
        </p:txBody>
      </p:sp>
      <p:sp>
        <p:nvSpPr>
          <p:cNvPr id="67" name="TextBox 66"/>
          <p:cNvSpPr txBox="1"/>
          <p:nvPr/>
        </p:nvSpPr>
        <p:spPr>
          <a:xfrm>
            <a:off x="9372600" y="3191256"/>
            <a:ext cx="2331720" cy="347472"/>
          </a:xfrm>
          <a:prstGeom prst="rect">
            <a:avLst/>
          </a:prstGeom>
          <a:noFill/>
        </p:spPr>
        <p:txBody>
          <a:bodyPr wrap="square">
            <a:spAutoFit/>
          </a:bodyPr>
          <a:lstStyle/>
          <a:p>
            <a:pPr algn="l"/>
            <a:r>
              <a:rPr sz="800" b="0" i="0">
                <a:solidFill>
                  <a:srgbClr val="3D4D6A"/>
                </a:solidFill>
              </a:rPr>
              <a:t>Staging → Raw Vault
transformation models</a:t>
            </a:r>
          </a:p>
        </p:txBody>
      </p:sp>
      <p:sp>
        <p:nvSpPr>
          <p:cNvPr id="68" name="Rounded Rectangle 67"/>
          <p:cNvSpPr/>
          <p:nvPr/>
        </p:nvSpPr>
        <p:spPr>
          <a:xfrm>
            <a:off x="9281160" y="3703320"/>
            <a:ext cx="2514600" cy="713232"/>
          </a:xfrm>
          <a:prstGeom prst="roundRect">
            <a:avLst>
              <a:gd name="adj" fmla="val 5000"/>
            </a:avLst>
          </a:prstGeom>
          <a:solidFill>
            <a:srgbClr val="EBF9EF"/>
          </a:solidFill>
          <a:ln w="63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72600" y="3739896"/>
            <a:ext cx="2331720" cy="274320"/>
          </a:xfrm>
          <a:prstGeom prst="rect">
            <a:avLst/>
          </a:prstGeom>
          <a:noFill/>
        </p:spPr>
        <p:txBody>
          <a:bodyPr wrap="square">
            <a:spAutoFit/>
          </a:bodyPr>
          <a:lstStyle/>
          <a:p>
            <a:pPr algn="l"/>
            <a:r>
              <a:rPr sz="900" b="1" i="0">
                <a:solidFill>
                  <a:srgbClr val="198A55"/>
                </a:solidFill>
              </a:rPr>
              <a:t>Hash Specs</a:t>
            </a:r>
          </a:p>
        </p:txBody>
      </p:sp>
      <p:sp>
        <p:nvSpPr>
          <p:cNvPr id="70" name="TextBox 69"/>
          <p:cNvSpPr txBox="1"/>
          <p:nvPr/>
        </p:nvSpPr>
        <p:spPr>
          <a:xfrm>
            <a:off x="9372600" y="4014215"/>
            <a:ext cx="2331720" cy="347472"/>
          </a:xfrm>
          <a:prstGeom prst="rect">
            <a:avLst/>
          </a:prstGeom>
          <a:noFill/>
        </p:spPr>
        <p:txBody>
          <a:bodyPr wrap="square">
            <a:spAutoFit/>
          </a:bodyPr>
          <a:lstStyle/>
          <a:p>
            <a:pPr algn="l"/>
            <a:r>
              <a:rPr sz="800" b="0" i="0">
                <a:solidFill>
                  <a:srgbClr val="3D4D6A"/>
                </a:solidFill>
              </a:rPr>
              <a:t>Reproducible SHA2-256
hash key definitions</a:t>
            </a:r>
          </a:p>
        </p:txBody>
      </p:sp>
      <p:sp>
        <p:nvSpPr>
          <p:cNvPr id="71" name="Rounded Rectangle 70"/>
          <p:cNvSpPr/>
          <p:nvPr/>
        </p:nvSpPr>
        <p:spPr>
          <a:xfrm>
            <a:off x="9281160" y="4526280"/>
            <a:ext cx="2514600" cy="713232"/>
          </a:xfrm>
          <a:prstGeom prst="roundRect">
            <a:avLst>
              <a:gd name="adj" fmla="val 5000"/>
            </a:avLst>
          </a:prstGeom>
          <a:solidFill>
            <a:srgbClr val="EBF9EF"/>
          </a:solidFill>
          <a:ln w="63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72600" y="4562856"/>
            <a:ext cx="2331720" cy="274320"/>
          </a:xfrm>
          <a:prstGeom prst="rect">
            <a:avLst/>
          </a:prstGeom>
          <a:noFill/>
        </p:spPr>
        <p:txBody>
          <a:bodyPr wrap="square">
            <a:spAutoFit/>
          </a:bodyPr>
          <a:lstStyle/>
          <a:p>
            <a:pPr algn="l"/>
            <a:r>
              <a:rPr sz="900" b="1" i="0">
                <a:solidFill>
                  <a:srgbClr val="198A55"/>
                </a:solidFill>
              </a:rPr>
              <a:t>Lineage</a:t>
            </a:r>
          </a:p>
        </p:txBody>
      </p:sp>
      <p:sp>
        <p:nvSpPr>
          <p:cNvPr id="73" name="TextBox 72"/>
          <p:cNvSpPr txBox="1"/>
          <p:nvPr/>
        </p:nvSpPr>
        <p:spPr>
          <a:xfrm>
            <a:off x="9372600" y="4837176"/>
            <a:ext cx="2331720" cy="347472"/>
          </a:xfrm>
          <a:prstGeom prst="rect">
            <a:avLst/>
          </a:prstGeom>
          <a:noFill/>
        </p:spPr>
        <p:txBody>
          <a:bodyPr wrap="square">
            <a:spAutoFit/>
          </a:bodyPr>
          <a:lstStyle/>
          <a:p>
            <a:pPr algn="l"/>
            <a:r>
              <a:rPr sz="800" b="0" i="0">
                <a:solidFill>
                  <a:srgbClr val="3D4D6A"/>
                </a:solidFill>
              </a:rPr>
              <a:t>Source→Vault column
mapping (DV_SOURCE_MAPPING)</a:t>
            </a:r>
          </a:p>
        </p:txBody>
      </p:sp>
      <p:sp>
        <p:nvSpPr>
          <p:cNvPr id="74" name="Rounded Rectangle 73"/>
          <p:cNvSpPr/>
          <p:nvPr/>
        </p:nvSpPr>
        <p:spPr>
          <a:xfrm>
            <a:off x="9281160" y="5349240"/>
            <a:ext cx="2514600" cy="713232"/>
          </a:xfrm>
          <a:prstGeom prst="roundRect">
            <a:avLst>
              <a:gd name="adj" fmla="val 5000"/>
            </a:avLst>
          </a:prstGeom>
          <a:solidFill>
            <a:srgbClr val="EBF9EF"/>
          </a:solidFill>
          <a:ln w="63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372600" y="5385816"/>
            <a:ext cx="2331720" cy="274320"/>
          </a:xfrm>
          <a:prstGeom prst="rect">
            <a:avLst/>
          </a:prstGeom>
          <a:noFill/>
        </p:spPr>
        <p:txBody>
          <a:bodyPr wrap="square">
            <a:spAutoFit/>
          </a:bodyPr>
          <a:lstStyle/>
          <a:p>
            <a:pPr algn="l"/>
            <a:r>
              <a:rPr sz="900" b="1" i="0">
                <a:solidFill>
                  <a:srgbClr val="198A55"/>
                </a:solidFill>
              </a:rPr>
              <a:t>ER Diagrams</a:t>
            </a:r>
          </a:p>
        </p:txBody>
      </p:sp>
      <p:sp>
        <p:nvSpPr>
          <p:cNvPr id="76" name="TextBox 75"/>
          <p:cNvSpPr txBox="1"/>
          <p:nvPr/>
        </p:nvSpPr>
        <p:spPr>
          <a:xfrm>
            <a:off x="9372600" y="5660136"/>
            <a:ext cx="2331720" cy="347472"/>
          </a:xfrm>
          <a:prstGeom prst="rect">
            <a:avLst/>
          </a:prstGeom>
          <a:noFill/>
        </p:spPr>
        <p:txBody>
          <a:bodyPr wrap="square">
            <a:spAutoFit/>
          </a:bodyPr>
          <a:lstStyle/>
          <a:p>
            <a:pPr algn="l"/>
            <a:r>
              <a:rPr sz="800" b="0" i="0">
                <a:solidFill>
                  <a:srgbClr val="3D4D6A"/>
                </a:solidFill>
              </a:rPr>
              <a:t>Interactive vault
entity diagrams</a:t>
            </a:r>
          </a:p>
        </p:txBody>
      </p:sp>
      <p:cxnSp>
        <p:nvCxnSpPr>
          <p:cNvPr id="77" name="Connector 76"/>
          <p:cNvCxnSpPr/>
          <p:nvPr/>
        </p:nvCxnSpPr>
        <p:spPr>
          <a:xfrm>
            <a:off x="8961120" y="3749039"/>
            <a:ext cx="228600" cy="0"/>
          </a:xfrm>
          <a:prstGeom prst="line">
            <a:avLst/>
          </a:prstGeom>
          <a:ln w="25400">
            <a:solidFill>
              <a:srgbClr val="198A55"/>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8796528" y="3776472"/>
            <a:ext cx="914400" cy="201168"/>
          </a:xfrm>
          <a:prstGeom prst="rect">
            <a:avLst/>
          </a:prstGeom>
          <a:noFill/>
        </p:spPr>
        <p:txBody>
          <a:bodyPr wrap="square">
            <a:spAutoFit/>
          </a:bodyPr>
          <a:lstStyle/>
          <a:p>
            <a:pPr algn="ctr"/>
            <a:r>
              <a:rPr sz="750" b="1" i="0">
                <a:solidFill>
                  <a:srgbClr val="198A55"/>
                </a:solidFill>
              </a:rPr>
              <a:t>APPROVE</a:t>
            </a:r>
          </a:p>
        </p:txBody>
      </p:sp>
      <p:cxnSp>
        <p:nvCxnSpPr>
          <p:cNvPr id="79" name="Connector 78"/>
          <p:cNvCxnSpPr/>
          <p:nvPr/>
        </p:nvCxnSpPr>
        <p:spPr>
          <a:xfrm>
            <a:off x="5486400" y="2286000"/>
            <a:ext cx="182880" cy="0"/>
          </a:xfrm>
          <a:prstGeom prst="line">
            <a:avLst/>
          </a:prstGeom>
          <a:ln w="19050">
            <a:solidFill>
              <a:srgbClr val="1A5C9A"/>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349240" y="2331720"/>
            <a:ext cx="868680" cy="347472"/>
          </a:xfrm>
          <a:prstGeom prst="rect">
            <a:avLst/>
          </a:prstGeom>
          <a:noFill/>
        </p:spPr>
        <p:txBody>
          <a:bodyPr wrap="square">
            <a:spAutoFit/>
          </a:bodyPr>
          <a:lstStyle/>
          <a:p>
            <a:pPr algn="ctr"/>
            <a:r>
              <a:rPr sz="750" b="0" i="1">
                <a:solidFill>
                  <a:srgbClr val="1A5C9A"/>
                </a:solidFill>
              </a:rPr>
              <a:t>registry
context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How Context is Assembled &amp; Passed to AI_COMPLETE</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SP_GENERATE_DV_PROPOSAL builds a rich, structured prompt at runtime — every call is fully grounded</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5</a:t>
            </a:r>
          </a:p>
        </p:txBody>
      </p:sp>
      <p:sp>
        <p:nvSpPr>
          <p:cNvPr id="10" name="Rounded Rectangle 9"/>
          <p:cNvSpPr/>
          <p:nvPr/>
        </p:nvSpPr>
        <p:spPr>
          <a:xfrm>
            <a:off x="4754880" y="2468880"/>
            <a:ext cx="2743200" cy="1371600"/>
          </a:xfrm>
          <a:prstGeom prst="roundRect">
            <a:avLst>
              <a:gd name="adj" fmla="val 5000"/>
            </a:avLst>
          </a:prstGeom>
          <a:solidFill>
            <a:srgbClr val="E36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514600"/>
            <a:ext cx="2743200" cy="1234440"/>
          </a:xfrm>
          <a:prstGeom prst="rect">
            <a:avLst/>
          </a:prstGeom>
          <a:noFill/>
        </p:spPr>
        <p:txBody>
          <a:bodyPr wrap="square">
            <a:spAutoFit/>
          </a:bodyPr>
          <a:lstStyle/>
          <a:p>
            <a:pPr algn="ctr"/>
            <a:r>
              <a:rPr sz="1100" b="1" i="0">
                <a:solidFill>
                  <a:srgbClr val="FFFFFF"/>
                </a:solidFill>
              </a:rPr>
              <a:t>SNOWFLAKE
CORTEX
AI_COMPLETE
(Claude Opus 4.6)</a:t>
            </a:r>
          </a:p>
        </p:txBody>
      </p:sp>
      <p:sp>
        <p:nvSpPr>
          <p:cNvPr id="12" name="Rounded Rectangle 11"/>
          <p:cNvSpPr/>
          <p:nvPr/>
        </p:nvSpPr>
        <p:spPr>
          <a:xfrm>
            <a:off x="228600" y="1188720"/>
            <a:ext cx="4297680" cy="1508760"/>
          </a:xfrm>
          <a:prstGeom prst="roundRect">
            <a:avLst>
              <a:gd name="adj" fmla="val 5000"/>
            </a:avLst>
          </a:prstGeom>
          <a:solidFill>
            <a:srgbClr val="D6EAF8"/>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243584"/>
            <a:ext cx="4023360" cy="320040"/>
          </a:xfrm>
          <a:prstGeom prst="rect">
            <a:avLst/>
          </a:prstGeom>
          <a:noFill/>
        </p:spPr>
        <p:txBody>
          <a:bodyPr wrap="square">
            <a:spAutoFit/>
          </a:bodyPr>
          <a:lstStyle/>
          <a:p>
            <a:pPr algn="l"/>
            <a:r>
              <a:rPr sz="1100" b="1" i="0">
                <a:solidFill>
                  <a:srgbClr val="1A5C9A"/>
                </a:solidFill>
              </a:rPr>
              <a:t>1  System Prompt</a:t>
            </a:r>
          </a:p>
        </p:txBody>
      </p:sp>
      <p:sp>
        <p:nvSpPr>
          <p:cNvPr id="14" name="TextBox 13"/>
          <p:cNvSpPr txBox="1"/>
          <p:nvPr/>
        </p:nvSpPr>
        <p:spPr>
          <a:xfrm>
            <a:off x="365760" y="1572768"/>
            <a:ext cx="4023360" cy="1051560"/>
          </a:xfrm>
          <a:prstGeom prst="rect">
            <a:avLst/>
          </a:prstGeom>
          <a:noFill/>
        </p:spPr>
        <p:txBody>
          <a:bodyPr wrap="square">
            <a:spAutoFit/>
          </a:bodyPr>
          <a:lstStyle/>
          <a:p>
            <a:pPr algn="l"/>
            <a:r>
              <a:rPr sz="850" b="0" i="0">
                <a:solidFill>
                  <a:srgbClr val="3D4D6A"/>
                </a:solidFill>
              </a:rPr>
              <a:t>Assembled at runtime from META.DV_AI_SYSTEM_PROMPT
7 sections: ROLE · NAMING · HASH STANDARDS · METADATA
COLUMNS · SATELLITE RULES · LINK RULES · RESPONSE FORMAT
Versioned, editable by architecture team without code change</a:t>
            </a:r>
          </a:p>
        </p:txBody>
      </p:sp>
      <p:cxnSp>
        <p:nvCxnSpPr>
          <p:cNvPr id="15" name="Connector 14"/>
          <p:cNvCxnSpPr/>
          <p:nvPr/>
        </p:nvCxnSpPr>
        <p:spPr>
          <a:xfrm>
            <a:off x="4526280" y="1938528"/>
            <a:ext cx="228600" cy="1216152"/>
          </a:xfrm>
          <a:prstGeom prst="line">
            <a:avLst/>
          </a:prstGeom>
          <a:ln w="15240">
            <a:solidFill>
              <a:srgbClr val="1A5C9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28600" y="2880360"/>
            <a:ext cx="4297680" cy="1508760"/>
          </a:xfrm>
          <a:prstGeom prst="roundRect">
            <a:avLst>
              <a:gd name="adj" fmla="val 5000"/>
            </a:avLst>
          </a:prstGeom>
          <a:solidFill>
            <a:srgbClr val="D1F2EB"/>
          </a:solidFill>
          <a:ln w="1905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935224"/>
            <a:ext cx="4023360" cy="320040"/>
          </a:xfrm>
          <a:prstGeom prst="rect">
            <a:avLst/>
          </a:prstGeom>
          <a:noFill/>
        </p:spPr>
        <p:txBody>
          <a:bodyPr wrap="square">
            <a:spAutoFit/>
          </a:bodyPr>
          <a:lstStyle/>
          <a:p>
            <a:pPr algn="l"/>
            <a:r>
              <a:rPr sz="1100" b="1" i="0">
                <a:solidFill>
                  <a:srgbClr val="0D8A84"/>
                </a:solidFill>
              </a:rPr>
              <a:t>2  Registry Context</a:t>
            </a:r>
          </a:p>
        </p:txBody>
      </p:sp>
      <p:sp>
        <p:nvSpPr>
          <p:cNvPr id="18" name="TextBox 17"/>
          <p:cNvSpPr txBox="1"/>
          <p:nvPr/>
        </p:nvSpPr>
        <p:spPr>
          <a:xfrm>
            <a:off x="365760" y="3264408"/>
            <a:ext cx="4023360" cy="1051560"/>
          </a:xfrm>
          <a:prstGeom prst="rect">
            <a:avLst/>
          </a:prstGeom>
          <a:noFill/>
        </p:spPr>
        <p:txBody>
          <a:bodyPr wrap="square">
            <a:spAutoFit/>
          </a:bodyPr>
          <a:lstStyle/>
          <a:p>
            <a:pPr algn="l"/>
            <a:r>
              <a:rPr sz="850" b="0" i="0">
                <a:solidFill>
                  <a:srgbClr val="3D4D6A"/>
                </a:solidFill>
              </a:rPr>
              <a:t>All APPROVED entities from META.DV_ENTITY + DV_ENTITY_COLUMN
Enables hub reuse detection before creating new entities
Format: ENTITY_ID [TYPE] — logical_name
  Columns: col:role:datatype, ...</a:t>
            </a:r>
          </a:p>
        </p:txBody>
      </p:sp>
      <p:cxnSp>
        <p:nvCxnSpPr>
          <p:cNvPr id="19" name="Connector 18"/>
          <p:cNvCxnSpPr/>
          <p:nvPr/>
        </p:nvCxnSpPr>
        <p:spPr>
          <a:xfrm flipV="1">
            <a:off x="4526280" y="3154680"/>
            <a:ext cx="228600" cy="475488"/>
          </a:xfrm>
          <a:prstGeom prst="line">
            <a:avLst/>
          </a:prstGeom>
          <a:ln w="15240">
            <a:solidFill>
              <a:srgbClr val="0D8A8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28600" y="4572000"/>
            <a:ext cx="4297680" cy="1508760"/>
          </a:xfrm>
          <a:prstGeom prst="roundRect">
            <a:avLst>
              <a:gd name="adj" fmla="val 5000"/>
            </a:avLst>
          </a:prstGeom>
          <a:solidFill>
            <a:srgbClr val="F2F4F7"/>
          </a:solidFill>
          <a:ln w="1905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626864"/>
            <a:ext cx="4023360" cy="320040"/>
          </a:xfrm>
          <a:prstGeom prst="rect">
            <a:avLst/>
          </a:prstGeom>
          <a:noFill/>
        </p:spPr>
        <p:txBody>
          <a:bodyPr wrap="square">
            <a:spAutoFit/>
          </a:bodyPr>
          <a:lstStyle/>
          <a:p>
            <a:pPr algn="l"/>
            <a:r>
              <a:rPr sz="1100" b="1" i="0">
                <a:solidFill>
                  <a:srgbClr val="3A4A60"/>
                </a:solidFill>
              </a:rPr>
              <a:t>3  Abbreviation Table</a:t>
            </a:r>
          </a:p>
        </p:txBody>
      </p:sp>
      <p:sp>
        <p:nvSpPr>
          <p:cNvPr id="22" name="TextBox 21"/>
          <p:cNvSpPr txBox="1"/>
          <p:nvPr/>
        </p:nvSpPr>
        <p:spPr>
          <a:xfrm>
            <a:off x="365760" y="4956048"/>
            <a:ext cx="4023360" cy="1051560"/>
          </a:xfrm>
          <a:prstGeom prst="rect">
            <a:avLst/>
          </a:prstGeom>
          <a:noFill/>
        </p:spPr>
        <p:txBody>
          <a:bodyPr wrap="square">
            <a:spAutoFit/>
          </a:bodyPr>
          <a:lstStyle/>
          <a:p>
            <a:pPr algn="l"/>
            <a:r>
              <a:rPr sz="850" b="0" i="0">
                <a:solidFill>
                  <a:srgbClr val="3D4D6A"/>
                </a:solidFill>
              </a:rPr>
              <a:t>All active rows from META.DV_ABBREVIATION
Maps physical abbreviations → logical names + domain
Keeps column naming consistent with Erwin .ABR file
Example:  CUST = Customer  (domain: PARTY)</a:t>
            </a:r>
          </a:p>
        </p:txBody>
      </p:sp>
      <p:cxnSp>
        <p:nvCxnSpPr>
          <p:cNvPr id="23" name="Connector 22"/>
          <p:cNvCxnSpPr/>
          <p:nvPr/>
        </p:nvCxnSpPr>
        <p:spPr>
          <a:xfrm flipV="1">
            <a:off x="4526280" y="3154680"/>
            <a:ext cx="228600" cy="2167128"/>
          </a:xfrm>
          <a:prstGeom prst="line">
            <a:avLst/>
          </a:prstGeom>
          <a:ln w="15240">
            <a:solidFill>
              <a:srgbClr val="3A4A6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662672" y="1188720"/>
            <a:ext cx="4297680" cy="1508760"/>
          </a:xfrm>
          <a:prstGeom prst="roundRect">
            <a:avLst>
              <a:gd name="adj" fmla="val 5000"/>
            </a:avLst>
          </a:prstGeom>
          <a:solidFill>
            <a:srgbClr val="FFF3E0"/>
          </a:solidFill>
          <a:ln w="19050">
            <a:solidFill>
              <a:srgbClr val="E36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99831" y="1243584"/>
            <a:ext cx="4023360" cy="411480"/>
          </a:xfrm>
          <a:prstGeom prst="rect">
            <a:avLst/>
          </a:prstGeom>
          <a:noFill/>
        </p:spPr>
        <p:txBody>
          <a:bodyPr wrap="square">
            <a:spAutoFit/>
          </a:bodyPr>
          <a:lstStyle/>
          <a:p>
            <a:pPr algn="l"/>
            <a:r>
              <a:rPr sz="1100" b="1" i="0">
                <a:solidFill>
                  <a:srgbClr val="E36C1A"/>
                </a:solidFill>
              </a:rPr>
              <a:t>4  Profiling Results</a:t>
            </a:r>
          </a:p>
        </p:txBody>
      </p:sp>
      <p:sp>
        <p:nvSpPr>
          <p:cNvPr id="26" name="TextBox 25"/>
          <p:cNvSpPr txBox="1"/>
          <p:nvPr/>
        </p:nvSpPr>
        <p:spPr>
          <a:xfrm>
            <a:off x="7799831" y="1600200"/>
            <a:ext cx="4023360" cy="1024128"/>
          </a:xfrm>
          <a:prstGeom prst="rect">
            <a:avLst/>
          </a:prstGeom>
          <a:noFill/>
        </p:spPr>
        <p:txBody>
          <a:bodyPr wrap="square">
            <a:spAutoFit/>
          </a:bodyPr>
          <a:lstStyle/>
          <a:p>
            <a:pPr algn="l"/>
            <a:r>
              <a:rPr sz="850" b="0" i="0">
                <a:solidFill>
                  <a:srgbClr val="3D4D6A"/>
                </a:solidFill>
              </a:rPr>
              <a:t>Per-column stats from latest DV_PROFILING_RESULTS run:
uniqueness %, null %, min/max/avg length, top 5 values
inferred data type, pattern detection (UUID/EMAIL/CODE)
change_frequency (FAST/SLOW/STATIC), PK candidate flag</a:t>
            </a:r>
          </a:p>
        </p:txBody>
      </p:sp>
      <p:cxnSp>
        <p:nvCxnSpPr>
          <p:cNvPr id="27" name="Connector 26"/>
          <p:cNvCxnSpPr/>
          <p:nvPr/>
        </p:nvCxnSpPr>
        <p:spPr>
          <a:xfrm flipH="1">
            <a:off x="7498079" y="1938528"/>
            <a:ext cx="164593" cy="1216152"/>
          </a:xfrm>
          <a:prstGeom prst="line">
            <a:avLst/>
          </a:prstGeom>
          <a:ln w="15240">
            <a:solidFill>
              <a:srgbClr val="E36C1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662672" y="2880360"/>
            <a:ext cx="4297680" cy="1508760"/>
          </a:xfrm>
          <a:prstGeom prst="roundRect">
            <a:avLst>
              <a:gd name="adj" fmla="val 5000"/>
            </a:avLst>
          </a:prstGeom>
          <a:solidFill>
            <a:srgbClr val="E8F8F0"/>
          </a:solidFill>
          <a:ln w="190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99831" y="2935224"/>
            <a:ext cx="4023360" cy="411480"/>
          </a:xfrm>
          <a:prstGeom prst="rect">
            <a:avLst/>
          </a:prstGeom>
          <a:noFill/>
        </p:spPr>
        <p:txBody>
          <a:bodyPr wrap="square">
            <a:spAutoFit/>
          </a:bodyPr>
          <a:lstStyle/>
          <a:p>
            <a:pPr algn="l"/>
            <a:r>
              <a:rPr sz="1100" b="1" i="0">
                <a:solidFill>
                  <a:srgbClr val="198A55"/>
                </a:solidFill>
              </a:rPr>
              <a:t>5  PK Candidates</a:t>
            </a:r>
          </a:p>
        </p:txBody>
      </p:sp>
      <p:sp>
        <p:nvSpPr>
          <p:cNvPr id="30" name="TextBox 29"/>
          <p:cNvSpPr txBox="1"/>
          <p:nvPr/>
        </p:nvSpPr>
        <p:spPr>
          <a:xfrm>
            <a:off x="7799831" y="3291840"/>
            <a:ext cx="4023360" cy="1024128"/>
          </a:xfrm>
          <a:prstGeom prst="rect">
            <a:avLst/>
          </a:prstGeom>
          <a:noFill/>
        </p:spPr>
        <p:txBody>
          <a:bodyPr wrap="square">
            <a:spAutoFit/>
          </a:bodyPr>
          <a:lstStyle/>
          <a:p>
            <a:pPr algn="l"/>
            <a:r>
              <a:rPr sz="850" b="0" i="0">
                <a:solidFill>
                  <a:srgbClr val="3D4D6A"/>
                </a:solidFill>
              </a:rPr>
              <a:t>Ranked candidates from META.DV_PK_CANDIDATES
Scoring 0-100: uniqueness, null %, naming heuristics
MODELER_SELECTED flag = overrides all statistics
Injected as: ← MODELER CONFIRMED in the prompt</a:t>
            </a:r>
          </a:p>
        </p:txBody>
      </p:sp>
      <p:cxnSp>
        <p:nvCxnSpPr>
          <p:cNvPr id="31" name="Connector 30"/>
          <p:cNvCxnSpPr/>
          <p:nvPr/>
        </p:nvCxnSpPr>
        <p:spPr>
          <a:xfrm flipH="1" flipV="1">
            <a:off x="7498079" y="3154680"/>
            <a:ext cx="164593" cy="475488"/>
          </a:xfrm>
          <a:prstGeom prst="line">
            <a:avLst/>
          </a:prstGeom>
          <a:ln w="15240">
            <a:solidFill>
              <a:srgbClr val="198A55"/>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662672" y="4572000"/>
            <a:ext cx="4297680" cy="1508760"/>
          </a:xfrm>
          <a:prstGeom prst="roundRect">
            <a:avLst>
              <a:gd name="adj" fmla="val 5000"/>
            </a:avLst>
          </a:prstGeom>
          <a:solidFill>
            <a:srgbClr val="FFFBE6"/>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99831" y="4626864"/>
            <a:ext cx="4023360" cy="411480"/>
          </a:xfrm>
          <a:prstGeom prst="rect">
            <a:avLst/>
          </a:prstGeom>
          <a:noFill/>
        </p:spPr>
        <p:txBody>
          <a:bodyPr wrap="square">
            <a:spAutoFit/>
          </a:bodyPr>
          <a:lstStyle/>
          <a:p>
            <a:pPr algn="l"/>
            <a:r>
              <a:rPr sz="1100" b="1" i="0">
                <a:solidFill>
                  <a:srgbClr val="F39C12"/>
                </a:solidFill>
              </a:rPr>
              <a:t>6  Modeler Notes
    &amp; Col. Definitions</a:t>
            </a:r>
          </a:p>
        </p:txBody>
      </p:sp>
      <p:sp>
        <p:nvSpPr>
          <p:cNvPr id="34" name="TextBox 33"/>
          <p:cNvSpPr txBox="1"/>
          <p:nvPr/>
        </p:nvSpPr>
        <p:spPr>
          <a:xfrm>
            <a:off x="7799831" y="4983480"/>
            <a:ext cx="4023360" cy="1024128"/>
          </a:xfrm>
          <a:prstGeom prst="rect">
            <a:avLst/>
          </a:prstGeom>
          <a:noFill/>
        </p:spPr>
        <p:txBody>
          <a:bodyPr wrap="square">
            <a:spAutoFit/>
          </a:bodyPr>
          <a:lstStyle/>
          <a:p>
            <a:pPr algn="l"/>
            <a:r>
              <a:rPr sz="850" b="0" i="0">
                <a:solidFill>
                  <a:srgbClr val="3D4D6A"/>
                </a:solidFill>
              </a:rPr>
              <a:t>Free-text modeler instructions — placed FIRST in prompt
Explicit override: PK, deprecated cols, relationship hints
Approved definitions from DV_COLUMN_DEFINITIONS copied
verbatim — AI forbidden from paraphrasing these</a:t>
            </a:r>
          </a:p>
        </p:txBody>
      </p:sp>
      <p:cxnSp>
        <p:nvCxnSpPr>
          <p:cNvPr id="35" name="Connector 34"/>
          <p:cNvCxnSpPr/>
          <p:nvPr/>
        </p:nvCxnSpPr>
        <p:spPr>
          <a:xfrm flipH="1" flipV="1">
            <a:off x="7498079" y="3154680"/>
            <a:ext cx="164593" cy="2167128"/>
          </a:xfrm>
          <a:prstGeom prst="line">
            <a:avLst/>
          </a:prstGeom>
          <a:ln w="15240">
            <a:solidFill>
              <a:srgbClr val="F39C1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26480" y="3840480"/>
            <a:ext cx="0" cy="411480"/>
          </a:xfrm>
          <a:prstGeom prst="line">
            <a:avLst/>
          </a:prstGeom>
          <a:ln w="31750">
            <a:solidFill>
              <a:srgbClr val="198A55"/>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389120" y="4251960"/>
            <a:ext cx="3474720" cy="749808"/>
          </a:xfrm>
          <a:prstGeom prst="roundRect">
            <a:avLst>
              <a:gd name="adj" fmla="val 5000"/>
            </a:avLst>
          </a:prstGeom>
          <a:solidFill>
            <a:srgbClr val="E8F8F0"/>
          </a:solidFill>
          <a:ln w="2540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80560" y="4279392"/>
            <a:ext cx="3291840" cy="658368"/>
          </a:xfrm>
          <a:prstGeom prst="rect">
            <a:avLst/>
          </a:prstGeom>
          <a:noFill/>
        </p:spPr>
        <p:txBody>
          <a:bodyPr wrap="square">
            <a:spAutoFit/>
          </a:bodyPr>
          <a:lstStyle/>
          <a:p>
            <a:pPr algn="ctr"/>
            <a:r>
              <a:rPr sz="950" b="1" i="0">
                <a:solidFill>
                  <a:srgbClr val="198A55"/>
                </a:solidFill>
              </a:rPr>
              <a:t>Structured JSON Response
(hubs · links · satellites · hash_definitions · rationale · confidence)</a:t>
            </a:r>
          </a:p>
        </p:txBody>
      </p:sp>
      <p:sp>
        <p:nvSpPr>
          <p:cNvPr id="39" name="TextBox 38"/>
          <p:cNvSpPr txBox="1"/>
          <p:nvPr/>
        </p:nvSpPr>
        <p:spPr>
          <a:xfrm>
            <a:off x="274320" y="5138928"/>
            <a:ext cx="11640312" cy="384048"/>
          </a:xfrm>
          <a:prstGeom prst="rect">
            <a:avLst/>
          </a:prstGeom>
          <a:noFill/>
        </p:spPr>
        <p:txBody>
          <a:bodyPr wrap="square">
            <a:spAutoFit/>
          </a:bodyPr>
          <a:lstStyle/>
          <a:p>
            <a:pPr algn="l"/>
            <a:r>
              <a:rPr sz="900" b="0" i="1">
                <a:solidFill>
                  <a:srgbClr val="3D4D6A"/>
                </a:solidFill>
              </a:rPr>
              <a:t>📌  Wide tables (&gt;60 cols): top_values and patterns are suppressed to stay within token budget. max_tokens = 16,000  ·  temperature = 0  (deterministic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System Prompt Architecture &amp; Modeler Overrides</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Standards are stored in the database, versioned, and assembled at runtime — no code change needed to update AI behavior</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6</a:t>
            </a:r>
          </a:p>
        </p:txBody>
      </p:sp>
      <p:sp>
        <p:nvSpPr>
          <p:cNvPr id="10" name="TextBox 9"/>
          <p:cNvSpPr txBox="1"/>
          <p:nvPr/>
        </p:nvSpPr>
        <p:spPr>
          <a:xfrm>
            <a:off x="274320" y="1097280"/>
            <a:ext cx="5943600" cy="347472"/>
          </a:xfrm>
          <a:prstGeom prst="rect">
            <a:avLst/>
          </a:prstGeom>
          <a:noFill/>
        </p:spPr>
        <p:txBody>
          <a:bodyPr wrap="square">
            <a:spAutoFit/>
          </a:bodyPr>
          <a:lstStyle/>
          <a:p>
            <a:pPr algn="l"/>
            <a:r>
              <a:rPr sz="1300" b="1" i="0">
                <a:solidFill>
                  <a:srgbClr val="142B4C"/>
                </a:solidFill>
              </a:rPr>
              <a:t>System Prompt — Stored in META.DV_AI_SYSTEM_PROMPT</a:t>
            </a:r>
          </a:p>
        </p:txBody>
      </p:sp>
      <p:sp>
        <p:nvSpPr>
          <p:cNvPr id="11" name="TextBox 10"/>
          <p:cNvSpPr txBox="1"/>
          <p:nvPr/>
        </p:nvSpPr>
        <p:spPr>
          <a:xfrm>
            <a:off x="274320" y="1463040"/>
            <a:ext cx="5943600" cy="274320"/>
          </a:xfrm>
          <a:prstGeom prst="rect">
            <a:avLst/>
          </a:prstGeom>
          <a:noFill/>
        </p:spPr>
        <p:txBody>
          <a:bodyPr wrap="square">
            <a:spAutoFit/>
          </a:bodyPr>
          <a:lstStyle/>
          <a:p>
            <a:pPr algn="l"/>
            <a:r>
              <a:rPr sz="950" b="0" i="1">
                <a:solidFill>
                  <a:srgbClr val="3D4D6A"/>
                </a:solidFill>
              </a:rPr>
              <a:t>Assembled via LISTAGG(SECTION_CONTENT ORDER BY SECTION_ORDER) at runtime</a:t>
            </a:r>
          </a:p>
        </p:txBody>
      </p:sp>
      <p:sp>
        <p:nvSpPr>
          <p:cNvPr id="12" name="Rounded Rectangle 11"/>
          <p:cNvSpPr/>
          <p:nvPr/>
        </p:nvSpPr>
        <p:spPr>
          <a:xfrm>
            <a:off x="274320" y="1847088"/>
            <a:ext cx="475488" cy="475488"/>
          </a:xfrm>
          <a:prstGeom prst="roundRect">
            <a:avLst>
              <a:gd name="adj" fmla="val 5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920240"/>
            <a:ext cx="475488" cy="320040"/>
          </a:xfrm>
          <a:prstGeom prst="rect">
            <a:avLst/>
          </a:prstGeom>
          <a:noFill/>
        </p:spPr>
        <p:txBody>
          <a:bodyPr wrap="square">
            <a:spAutoFit/>
          </a:bodyPr>
          <a:lstStyle/>
          <a:p>
            <a:pPr algn="ctr"/>
            <a:r>
              <a:rPr sz="1100" b="1" i="0">
                <a:solidFill>
                  <a:srgbClr val="FFFFFF"/>
                </a:solidFill>
              </a:rPr>
              <a:t>10</a:t>
            </a:r>
          </a:p>
        </p:txBody>
      </p:sp>
      <p:sp>
        <p:nvSpPr>
          <p:cNvPr id="14" name="Rounded Rectangle 13"/>
          <p:cNvSpPr/>
          <p:nvPr/>
        </p:nvSpPr>
        <p:spPr>
          <a:xfrm>
            <a:off x="804672" y="1847088"/>
            <a:ext cx="5212080" cy="475488"/>
          </a:xfrm>
          <a:prstGeom prst="roundRect">
            <a:avLst>
              <a:gd name="adj" fmla="val 5000"/>
            </a:avLst>
          </a:prstGeom>
          <a:solidFill>
            <a:srgbClr val="FFFFFF"/>
          </a:solidFill>
          <a:ln w="1270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1865376"/>
            <a:ext cx="1645920" cy="237744"/>
          </a:xfrm>
          <a:prstGeom prst="rect">
            <a:avLst/>
          </a:prstGeom>
          <a:noFill/>
        </p:spPr>
        <p:txBody>
          <a:bodyPr wrap="square">
            <a:spAutoFit/>
          </a:bodyPr>
          <a:lstStyle/>
          <a:p>
            <a:pPr algn="l"/>
            <a:r>
              <a:rPr sz="950" b="1" i="0">
                <a:solidFill>
                  <a:srgbClr val="1A5C9A"/>
                </a:solidFill>
              </a:rPr>
              <a:t>ROLE</a:t>
            </a:r>
          </a:p>
        </p:txBody>
      </p:sp>
      <p:sp>
        <p:nvSpPr>
          <p:cNvPr id="16" name="TextBox 15"/>
          <p:cNvSpPr txBox="1"/>
          <p:nvPr/>
        </p:nvSpPr>
        <p:spPr>
          <a:xfrm>
            <a:off x="2606040" y="1874519"/>
            <a:ext cx="3337560" cy="402336"/>
          </a:xfrm>
          <a:prstGeom prst="rect">
            <a:avLst/>
          </a:prstGeom>
          <a:noFill/>
        </p:spPr>
        <p:txBody>
          <a:bodyPr wrap="square">
            <a:spAutoFit/>
          </a:bodyPr>
          <a:lstStyle/>
          <a:p>
            <a:pPr algn="l"/>
            <a:r>
              <a:rPr sz="850" b="0" i="0">
                <a:solidFill>
                  <a:srgbClr val="3D4D6A"/>
                </a:solidFill>
              </a:rPr>
              <a:t>Expert DV2.0 banking architect. Goals, available context, output format.</a:t>
            </a:r>
          </a:p>
        </p:txBody>
      </p:sp>
      <p:sp>
        <p:nvSpPr>
          <p:cNvPr id="17" name="Rounded Rectangle 16"/>
          <p:cNvSpPr/>
          <p:nvPr/>
        </p:nvSpPr>
        <p:spPr>
          <a:xfrm>
            <a:off x="274320" y="2468880"/>
            <a:ext cx="475488" cy="475488"/>
          </a:xfrm>
          <a:prstGeom prst="roundRect">
            <a:avLst>
              <a:gd name="adj" fmla="val 5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2542032"/>
            <a:ext cx="475488" cy="320040"/>
          </a:xfrm>
          <a:prstGeom prst="rect">
            <a:avLst/>
          </a:prstGeom>
          <a:noFill/>
        </p:spPr>
        <p:txBody>
          <a:bodyPr wrap="square">
            <a:spAutoFit/>
          </a:bodyPr>
          <a:lstStyle/>
          <a:p>
            <a:pPr algn="ctr"/>
            <a:r>
              <a:rPr sz="1100" b="1" i="0">
                <a:solidFill>
                  <a:srgbClr val="FFFFFF"/>
                </a:solidFill>
              </a:rPr>
              <a:t>20</a:t>
            </a:r>
          </a:p>
        </p:txBody>
      </p:sp>
      <p:sp>
        <p:nvSpPr>
          <p:cNvPr id="19" name="Rounded Rectangle 18"/>
          <p:cNvSpPr/>
          <p:nvPr/>
        </p:nvSpPr>
        <p:spPr>
          <a:xfrm>
            <a:off x="804672" y="2468880"/>
            <a:ext cx="5212080" cy="475488"/>
          </a:xfrm>
          <a:prstGeom prst="roundRect">
            <a:avLst>
              <a:gd name="adj" fmla="val 5000"/>
            </a:avLst>
          </a:prstGeom>
          <a:solidFill>
            <a:srgbClr val="FFFFFF"/>
          </a:solidFill>
          <a:ln w="1270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487168"/>
            <a:ext cx="1645920" cy="237744"/>
          </a:xfrm>
          <a:prstGeom prst="rect">
            <a:avLst/>
          </a:prstGeom>
          <a:noFill/>
        </p:spPr>
        <p:txBody>
          <a:bodyPr wrap="square">
            <a:spAutoFit/>
          </a:bodyPr>
          <a:lstStyle/>
          <a:p>
            <a:pPr algn="l"/>
            <a:r>
              <a:rPr sz="950" b="1" i="0">
                <a:solidFill>
                  <a:srgbClr val="0D8A84"/>
                </a:solidFill>
              </a:rPr>
              <a:t>NAMING_CONVENTIONS</a:t>
            </a:r>
          </a:p>
        </p:txBody>
      </p:sp>
      <p:sp>
        <p:nvSpPr>
          <p:cNvPr id="21" name="TextBox 20"/>
          <p:cNvSpPr txBox="1"/>
          <p:nvPr/>
        </p:nvSpPr>
        <p:spPr>
          <a:xfrm>
            <a:off x="2606040" y="2496312"/>
            <a:ext cx="3337560" cy="402336"/>
          </a:xfrm>
          <a:prstGeom prst="rect">
            <a:avLst/>
          </a:prstGeom>
          <a:noFill/>
        </p:spPr>
        <p:txBody>
          <a:bodyPr wrap="square">
            <a:spAutoFit/>
          </a:bodyPr>
          <a:lstStyle/>
          <a:p>
            <a:pPr algn="l"/>
            <a:r>
              <a:rPr sz="850" b="0" i="0">
                <a:solidFill>
                  <a:srgbClr val="3D4D6A"/>
                </a:solidFill>
              </a:rPr>
              <a:t>Hub/Link/Sat naming patterns, column roles, UPPER_SNAKE_CASE rules, source system suffix.</a:t>
            </a:r>
          </a:p>
        </p:txBody>
      </p:sp>
      <p:sp>
        <p:nvSpPr>
          <p:cNvPr id="22" name="Rounded Rectangle 21"/>
          <p:cNvSpPr/>
          <p:nvPr/>
        </p:nvSpPr>
        <p:spPr>
          <a:xfrm>
            <a:off x="274320" y="3090672"/>
            <a:ext cx="475488" cy="475488"/>
          </a:xfrm>
          <a:prstGeom prst="roundRect">
            <a:avLst>
              <a:gd name="adj" fmla="val 5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3163824"/>
            <a:ext cx="475488" cy="320040"/>
          </a:xfrm>
          <a:prstGeom prst="rect">
            <a:avLst/>
          </a:prstGeom>
          <a:noFill/>
        </p:spPr>
        <p:txBody>
          <a:bodyPr wrap="square">
            <a:spAutoFit/>
          </a:bodyPr>
          <a:lstStyle/>
          <a:p>
            <a:pPr algn="ctr"/>
            <a:r>
              <a:rPr sz="1100" b="1" i="0">
                <a:solidFill>
                  <a:srgbClr val="FFFFFF"/>
                </a:solidFill>
              </a:rPr>
              <a:t>30</a:t>
            </a:r>
          </a:p>
        </p:txBody>
      </p:sp>
      <p:sp>
        <p:nvSpPr>
          <p:cNvPr id="24" name="Rounded Rectangle 23"/>
          <p:cNvSpPr/>
          <p:nvPr/>
        </p:nvSpPr>
        <p:spPr>
          <a:xfrm>
            <a:off x="804672" y="3090672"/>
            <a:ext cx="5212080" cy="475488"/>
          </a:xfrm>
          <a:prstGeom prst="roundRect">
            <a:avLst>
              <a:gd name="adj" fmla="val 5000"/>
            </a:avLst>
          </a:prstGeom>
          <a:solidFill>
            <a:srgbClr val="FFFFFF"/>
          </a:solidFill>
          <a:ln w="1270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108960"/>
            <a:ext cx="1645920" cy="237744"/>
          </a:xfrm>
          <a:prstGeom prst="rect">
            <a:avLst/>
          </a:prstGeom>
          <a:noFill/>
        </p:spPr>
        <p:txBody>
          <a:bodyPr wrap="square">
            <a:spAutoFit/>
          </a:bodyPr>
          <a:lstStyle/>
          <a:p>
            <a:pPr algn="l"/>
            <a:r>
              <a:rPr sz="950" b="1" i="0">
                <a:solidFill>
                  <a:srgbClr val="3A4A60"/>
                </a:solidFill>
              </a:rPr>
              <a:t>HASH_STANDARDS</a:t>
            </a:r>
          </a:p>
        </p:txBody>
      </p:sp>
      <p:sp>
        <p:nvSpPr>
          <p:cNvPr id="26" name="TextBox 25"/>
          <p:cNvSpPr txBox="1"/>
          <p:nvPr/>
        </p:nvSpPr>
        <p:spPr>
          <a:xfrm>
            <a:off x="2606040" y="3118103"/>
            <a:ext cx="3337560" cy="402336"/>
          </a:xfrm>
          <a:prstGeom prst="rect">
            <a:avLst/>
          </a:prstGeom>
          <a:noFill/>
        </p:spPr>
        <p:txBody>
          <a:bodyPr wrap="square">
            <a:spAutoFit/>
          </a:bodyPr>
          <a:lstStyle/>
          <a:p>
            <a:pPr algn="l"/>
            <a:r>
              <a:rPr sz="850" b="0" i="0">
                <a:solidFill>
                  <a:srgbClr val="3D4D6A"/>
                </a:solidFill>
              </a:rPr>
              <a:t>SHA2_BINARY(256), null replacement '-1', UPPER(TRIM), column sort order.</a:t>
            </a:r>
          </a:p>
        </p:txBody>
      </p:sp>
      <p:sp>
        <p:nvSpPr>
          <p:cNvPr id="27" name="Rounded Rectangle 26"/>
          <p:cNvSpPr/>
          <p:nvPr/>
        </p:nvSpPr>
        <p:spPr>
          <a:xfrm>
            <a:off x="274320" y="3712464"/>
            <a:ext cx="475488" cy="475488"/>
          </a:xfrm>
          <a:prstGeom prst="roundRect">
            <a:avLst>
              <a:gd name="adj" fmla="val 5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3785616"/>
            <a:ext cx="475488" cy="320040"/>
          </a:xfrm>
          <a:prstGeom prst="rect">
            <a:avLst/>
          </a:prstGeom>
          <a:noFill/>
        </p:spPr>
        <p:txBody>
          <a:bodyPr wrap="square">
            <a:spAutoFit/>
          </a:bodyPr>
          <a:lstStyle/>
          <a:p>
            <a:pPr algn="ctr"/>
            <a:r>
              <a:rPr sz="1100" b="1" i="0">
                <a:solidFill>
                  <a:srgbClr val="FFFFFF"/>
                </a:solidFill>
              </a:rPr>
              <a:t>40</a:t>
            </a:r>
          </a:p>
        </p:txBody>
      </p:sp>
      <p:sp>
        <p:nvSpPr>
          <p:cNvPr id="29" name="Rounded Rectangle 28"/>
          <p:cNvSpPr/>
          <p:nvPr/>
        </p:nvSpPr>
        <p:spPr>
          <a:xfrm>
            <a:off x="804672" y="3712464"/>
            <a:ext cx="5212080" cy="475488"/>
          </a:xfrm>
          <a:prstGeom prst="roundRect">
            <a:avLst>
              <a:gd name="adj" fmla="val 5000"/>
            </a:avLst>
          </a:prstGeom>
          <a:solidFill>
            <a:srgbClr val="FFFFFF"/>
          </a:solidFill>
          <a:ln w="1270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730752"/>
            <a:ext cx="1645920" cy="237744"/>
          </a:xfrm>
          <a:prstGeom prst="rect">
            <a:avLst/>
          </a:prstGeom>
          <a:noFill/>
        </p:spPr>
        <p:txBody>
          <a:bodyPr wrap="square">
            <a:spAutoFit/>
          </a:bodyPr>
          <a:lstStyle/>
          <a:p>
            <a:pPr algn="l"/>
            <a:r>
              <a:rPr sz="950" b="1" i="0">
                <a:solidFill>
                  <a:srgbClr val="1A5C9A"/>
                </a:solidFill>
              </a:rPr>
              <a:t>METADATA_COLUMNS</a:t>
            </a:r>
          </a:p>
        </p:txBody>
      </p:sp>
      <p:sp>
        <p:nvSpPr>
          <p:cNvPr id="31" name="TextBox 30"/>
          <p:cNvSpPr txBox="1"/>
          <p:nvPr/>
        </p:nvSpPr>
        <p:spPr>
          <a:xfrm>
            <a:off x="2606040" y="3739896"/>
            <a:ext cx="3337560" cy="402336"/>
          </a:xfrm>
          <a:prstGeom prst="rect">
            <a:avLst/>
          </a:prstGeom>
          <a:noFill/>
        </p:spPr>
        <p:txBody>
          <a:bodyPr wrap="square">
            <a:spAutoFit/>
          </a:bodyPr>
          <a:lstStyle/>
          <a:p>
            <a:pPr algn="l"/>
            <a:r>
              <a:rPr sz="850" b="0" i="0">
                <a:solidFill>
                  <a:srgbClr val="3D4D6A"/>
                </a:solidFill>
              </a:rPr>
              <a:t>Required columns for each entity type: HUB/LNK/SAT/MSAT/ESAT — order and data types.</a:t>
            </a:r>
          </a:p>
        </p:txBody>
      </p:sp>
      <p:sp>
        <p:nvSpPr>
          <p:cNvPr id="32" name="Rounded Rectangle 31"/>
          <p:cNvSpPr/>
          <p:nvPr/>
        </p:nvSpPr>
        <p:spPr>
          <a:xfrm>
            <a:off x="274320" y="4334256"/>
            <a:ext cx="475488" cy="475488"/>
          </a:xfrm>
          <a:prstGeom prst="roundRect">
            <a:avLst>
              <a:gd name="adj" fmla="val 5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407408"/>
            <a:ext cx="475488" cy="320040"/>
          </a:xfrm>
          <a:prstGeom prst="rect">
            <a:avLst/>
          </a:prstGeom>
          <a:noFill/>
        </p:spPr>
        <p:txBody>
          <a:bodyPr wrap="square">
            <a:spAutoFit/>
          </a:bodyPr>
          <a:lstStyle/>
          <a:p>
            <a:pPr algn="ctr"/>
            <a:r>
              <a:rPr sz="1100" b="1" i="0">
                <a:solidFill>
                  <a:srgbClr val="FFFFFF"/>
                </a:solidFill>
              </a:rPr>
              <a:t>50</a:t>
            </a:r>
          </a:p>
        </p:txBody>
      </p:sp>
      <p:sp>
        <p:nvSpPr>
          <p:cNvPr id="34" name="Rounded Rectangle 33"/>
          <p:cNvSpPr/>
          <p:nvPr/>
        </p:nvSpPr>
        <p:spPr>
          <a:xfrm>
            <a:off x="804672" y="4334256"/>
            <a:ext cx="5212080" cy="475488"/>
          </a:xfrm>
          <a:prstGeom prst="roundRect">
            <a:avLst>
              <a:gd name="adj" fmla="val 5000"/>
            </a:avLst>
          </a:prstGeom>
          <a:solidFill>
            <a:srgbClr val="FFFFFF"/>
          </a:solidFill>
          <a:ln w="1270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352544"/>
            <a:ext cx="1645920" cy="237744"/>
          </a:xfrm>
          <a:prstGeom prst="rect">
            <a:avLst/>
          </a:prstGeom>
          <a:noFill/>
        </p:spPr>
        <p:txBody>
          <a:bodyPr wrap="square">
            <a:spAutoFit/>
          </a:bodyPr>
          <a:lstStyle/>
          <a:p>
            <a:pPr algn="l"/>
            <a:r>
              <a:rPr sz="950" b="1" i="0">
                <a:solidFill>
                  <a:srgbClr val="0D8A84"/>
                </a:solidFill>
              </a:rPr>
              <a:t>SATELLITE_RULES</a:t>
            </a:r>
          </a:p>
        </p:txBody>
      </p:sp>
      <p:sp>
        <p:nvSpPr>
          <p:cNvPr id="36" name="TextBox 35"/>
          <p:cNvSpPr txBox="1"/>
          <p:nvPr/>
        </p:nvSpPr>
        <p:spPr>
          <a:xfrm>
            <a:off x="2606040" y="4361688"/>
            <a:ext cx="3337560" cy="402336"/>
          </a:xfrm>
          <a:prstGeom prst="rect">
            <a:avLst/>
          </a:prstGeom>
          <a:noFill/>
        </p:spPr>
        <p:txBody>
          <a:bodyPr wrap="square">
            <a:spAutoFit/>
          </a:bodyPr>
          <a:lstStyle/>
          <a:p>
            <a:pPr algn="l"/>
            <a:r>
              <a:rPr sz="850" b="0" i="0">
                <a:solidFill>
                  <a:srgbClr val="3D4D6A"/>
                </a:solidFill>
              </a:rPr>
              <a:t>One sat per source system. Split by change frequency. FAST/SLOW/STATIC thresholds.</a:t>
            </a:r>
          </a:p>
        </p:txBody>
      </p:sp>
      <p:sp>
        <p:nvSpPr>
          <p:cNvPr id="37" name="Rounded Rectangle 36"/>
          <p:cNvSpPr/>
          <p:nvPr/>
        </p:nvSpPr>
        <p:spPr>
          <a:xfrm>
            <a:off x="274320" y="4956048"/>
            <a:ext cx="475488" cy="475488"/>
          </a:xfrm>
          <a:prstGeom prst="roundRect">
            <a:avLst>
              <a:gd name="adj" fmla="val 5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5029200"/>
            <a:ext cx="475488" cy="320040"/>
          </a:xfrm>
          <a:prstGeom prst="rect">
            <a:avLst/>
          </a:prstGeom>
          <a:noFill/>
        </p:spPr>
        <p:txBody>
          <a:bodyPr wrap="square">
            <a:spAutoFit/>
          </a:bodyPr>
          <a:lstStyle/>
          <a:p>
            <a:pPr algn="ctr"/>
            <a:r>
              <a:rPr sz="1100" b="1" i="0">
                <a:solidFill>
                  <a:srgbClr val="FFFFFF"/>
                </a:solidFill>
              </a:rPr>
              <a:t>60</a:t>
            </a:r>
          </a:p>
        </p:txBody>
      </p:sp>
      <p:sp>
        <p:nvSpPr>
          <p:cNvPr id="39" name="Rounded Rectangle 38"/>
          <p:cNvSpPr/>
          <p:nvPr/>
        </p:nvSpPr>
        <p:spPr>
          <a:xfrm>
            <a:off x="804672" y="4956048"/>
            <a:ext cx="5212080" cy="475488"/>
          </a:xfrm>
          <a:prstGeom prst="roundRect">
            <a:avLst>
              <a:gd name="adj" fmla="val 5000"/>
            </a:avLst>
          </a:prstGeom>
          <a:solidFill>
            <a:srgbClr val="FFFFFF"/>
          </a:solidFill>
          <a:ln w="1270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74336"/>
            <a:ext cx="1645920" cy="237744"/>
          </a:xfrm>
          <a:prstGeom prst="rect">
            <a:avLst/>
          </a:prstGeom>
          <a:noFill/>
        </p:spPr>
        <p:txBody>
          <a:bodyPr wrap="square">
            <a:spAutoFit/>
          </a:bodyPr>
          <a:lstStyle/>
          <a:p>
            <a:pPr algn="l"/>
            <a:r>
              <a:rPr sz="950" b="1" i="0">
                <a:solidFill>
                  <a:srgbClr val="3A4A60"/>
                </a:solidFill>
              </a:rPr>
              <a:t>LINK_RULES</a:t>
            </a:r>
          </a:p>
        </p:txBody>
      </p:sp>
      <p:sp>
        <p:nvSpPr>
          <p:cNvPr id="41" name="TextBox 40"/>
          <p:cNvSpPr txBox="1"/>
          <p:nvPr/>
        </p:nvSpPr>
        <p:spPr>
          <a:xfrm>
            <a:off x="2606040" y="4983480"/>
            <a:ext cx="3337560" cy="402336"/>
          </a:xfrm>
          <a:prstGeom prst="rect">
            <a:avLst/>
          </a:prstGeom>
          <a:noFill/>
        </p:spPr>
        <p:txBody>
          <a:bodyPr wrap="square">
            <a:spAutoFit/>
          </a:bodyPr>
          <a:lstStyle/>
          <a:p>
            <a:pPr algn="l"/>
            <a:r>
              <a:rPr sz="850" b="0" i="0">
                <a:solidFill>
                  <a:srgbClr val="3D4D6A"/>
                </a:solidFill>
              </a:rPr>
              <a:t>When to create a link. Alphabetical noun order. Hub reuse detection from registry.</a:t>
            </a:r>
          </a:p>
        </p:txBody>
      </p:sp>
      <p:sp>
        <p:nvSpPr>
          <p:cNvPr id="42" name="Rounded Rectangle 41"/>
          <p:cNvSpPr/>
          <p:nvPr/>
        </p:nvSpPr>
        <p:spPr>
          <a:xfrm>
            <a:off x="274320" y="5577840"/>
            <a:ext cx="475488" cy="475488"/>
          </a:xfrm>
          <a:prstGeom prst="roundRect">
            <a:avLst>
              <a:gd name="adj" fmla="val 5000"/>
            </a:avLst>
          </a:prstGeom>
          <a:solidFill>
            <a:srgbClr val="E36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5650992"/>
            <a:ext cx="475488" cy="320040"/>
          </a:xfrm>
          <a:prstGeom prst="rect">
            <a:avLst/>
          </a:prstGeom>
          <a:noFill/>
        </p:spPr>
        <p:txBody>
          <a:bodyPr wrap="square">
            <a:spAutoFit/>
          </a:bodyPr>
          <a:lstStyle/>
          <a:p>
            <a:pPr algn="ctr"/>
            <a:r>
              <a:rPr sz="1100" b="1" i="0">
                <a:solidFill>
                  <a:srgbClr val="FFFFFF"/>
                </a:solidFill>
              </a:rPr>
              <a:t>70</a:t>
            </a:r>
          </a:p>
        </p:txBody>
      </p:sp>
      <p:sp>
        <p:nvSpPr>
          <p:cNvPr id="44" name="Rounded Rectangle 43"/>
          <p:cNvSpPr/>
          <p:nvPr/>
        </p:nvSpPr>
        <p:spPr>
          <a:xfrm>
            <a:off x="804672" y="5577840"/>
            <a:ext cx="5212080" cy="475488"/>
          </a:xfrm>
          <a:prstGeom prst="roundRect">
            <a:avLst>
              <a:gd name="adj" fmla="val 5000"/>
            </a:avLst>
          </a:prstGeom>
          <a:solidFill>
            <a:srgbClr val="FFFFFF"/>
          </a:solidFill>
          <a:ln w="12700">
            <a:solidFill>
              <a:srgbClr val="E36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5596127"/>
            <a:ext cx="1645920" cy="237744"/>
          </a:xfrm>
          <a:prstGeom prst="rect">
            <a:avLst/>
          </a:prstGeom>
          <a:noFill/>
        </p:spPr>
        <p:txBody>
          <a:bodyPr wrap="square">
            <a:spAutoFit/>
          </a:bodyPr>
          <a:lstStyle/>
          <a:p>
            <a:pPr algn="l"/>
            <a:r>
              <a:rPr sz="950" b="1" i="0">
                <a:solidFill>
                  <a:srgbClr val="E36C1A"/>
                </a:solidFill>
              </a:rPr>
              <a:t>RESPONSE_FORMAT</a:t>
            </a:r>
          </a:p>
        </p:txBody>
      </p:sp>
      <p:sp>
        <p:nvSpPr>
          <p:cNvPr id="46" name="TextBox 45"/>
          <p:cNvSpPr txBox="1"/>
          <p:nvPr/>
        </p:nvSpPr>
        <p:spPr>
          <a:xfrm>
            <a:off x="2606040" y="5605272"/>
            <a:ext cx="3337560" cy="402336"/>
          </a:xfrm>
          <a:prstGeom prst="rect">
            <a:avLst/>
          </a:prstGeom>
          <a:noFill/>
        </p:spPr>
        <p:txBody>
          <a:bodyPr wrap="square">
            <a:spAutoFit/>
          </a:bodyPr>
          <a:lstStyle/>
          <a:p>
            <a:pPr algn="l"/>
            <a:r>
              <a:rPr sz="850" b="0" i="0">
                <a:solidFill>
                  <a:srgbClr val="3D4D6A"/>
                </a:solidFill>
              </a:rPr>
              <a:t>Strict JSON schema — hubs, links, satellites, hash_definitions, confidence, warnings.</a:t>
            </a:r>
          </a:p>
        </p:txBody>
      </p:sp>
      <p:sp>
        <p:nvSpPr>
          <p:cNvPr id="47" name="Rectangle 46"/>
          <p:cNvSpPr/>
          <p:nvPr/>
        </p:nvSpPr>
        <p:spPr>
          <a:xfrm>
            <a:off x="6217920" y="1051560"/>
            <a:ext cx="36576" cy="5486400"/>
          </a:xfrm>
          <a:prstGeom prst="rect">
            <a:avLst/>
          </a:prstGeom>
          <a:solidFill>
            <a:srgbClr val="CC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1097280"/>
            <a:ext cx="5486400" cy="347472"/>
          </a:xfrm>
          <a:prstGeom prst="rect">
            <a:avLst/>
          </a:prstGeom>
          <a:noFill/>
        </p:spPr>
        <p:txBody>
          <a:bodyPr wrap="square">
            <a:spAutoFit/>
          </a:bodyPr>
          <a:lstStyle/>
          <a:p>
            <a:pPr algn="l"/>
            <a:r>
              <a:rPr sz="1300" b="1" i="0">
                <a:solidFill>
                  <a:srgbClr val="142B4C"/>
                </a:solidFill>
              </a:rPr>
              <a:t>Modeler Override Mechanics</a:t>
            </a:r>
          </a:p>
        </p:txBody>
      </p:sp>
      <p:sp>
        <p:nvSpPr>
          <p:cNvPr id="49" name="Rounded Rectangle 48"/>
          <p:cNvSpPr/>
          <p:nvPr/>
        </p:nvSpPr>
        <p:spPr>
          <a:xfrm>
            <a:off x="6355080" y="1508760"/>
            <a:ext cx="5623560" cy="914400"/>
          </a:xfrm>
          <a:prstGeom prst="roundRect">
            <a:avLst>
              <a:gd name="adj" fmla="val 5000"/>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55080" y="1508760"/>
            <a:ext cx="91440" cy="9144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37960" y="1563624"/>
            <a:ext cx="5257800" cy="256032"/>
          </a:xfrm>
          <a:prstGeom prst="rect">
            <a:avLst/>
          </a:prstGeom>
          <a:noFill/>
        </p:spPr>
        <p:txBody>
          <a:bodyPr wrap="square">
            <a:spAutoFit/>
          </a:bodyPr>
          <a:lstStyle/>
          <a:p>
            <a:pPr algn="l"/>
            <a:r>
              <a:rPr sz="1050" b="1" i="0">
                <a:solidFill>
                  <a:srgbClr val="F39C12"/>
                </a:solidFill>
              </a:rPr>
              <a:t>Modeler Notes Field</a:t>
            </a:r>
          </a:p>
        </p:txBody>
      </p:sp>
      <p:sp>
        <p:nvSpPr>
          <p:cNvPr id="52" name="TextBox 51"/>
          <p:cNvSpPr txBox="1"/>
          <p:nvPr/>
        </p:nvSpPr>
        <p:spPr>
          <a:xfrm>
            <a:off x="6537960" y="1828800"/>
            <a:ext cx="5257800" cy="530352"/>
          </a:xfrm>
          <a:prstGeom prst="rect">
            <a:avLst/>
          </a:prstGeom>
          <a:noFill/>
        </p:spPr>
        <p:txBody>
          <a:bodyPr wrap="square">
            <a:spAutoFit/>
          </a:bodyPr>
          <a:lstStyle/>
          <a:p>
            <a:pPr algn="l"/>
            <a:r>
              <a:rPr sz="850" b="0" i="0">
                <a:solidFill>
                  <a:srgbClr val="3D4D6A"/>
                </a:solidFill>
              </a:rPr>
              <a:t>Injected FIRST in the user message, before all other context. Heading in prompt reads:
  === MODELER NOTES — READ THIS FIRST AND APPLY TO EVERY DECISION ===
AI is explicitly told: 'Any PK stated here OVERRIDES all statistical PK detection.'</a:t>
            </a:r>
          </a:p>
        </p:txBody>
      </p:sp>
      <p:sp>
        <p:nvSpPr>
          <p:cNvPr id="53" name="Rounded Rectangle 52"/>
          <p:cNvSpPr/>
          <p:nvPr/>
        </p:nvSpPr>
        <p:spPr>
          <a:xfrm>
            <a:off x="6355080" y="2514600"/>
            <a:ext cx="5623560" cy="914400"/>
          </a:xfrm>
          <a:prstGeom prst="roundRect">
            <a:avLst>
              <a:gd name="adj" fmla="val 5000"/>
            </a:avLst>
          </a:prstGeom>
          <a:solidFill>
            <a:srgbClr val="FFFFFF"/>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55080" y="2514600"/>
            <a:ext cx="91440" cy="914400"/>
          </a:xfrm>
          <a:prstGeom prst="rect">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37960" y="2569464"/>
            <a:ext cx="5257800" cy="256032"/>
          </a:xfrm>
          <a:prstGeom prst="rect">
            <a:avLst/>
          </a:prstGeom>
          <a:noFill/>
        </p:spPr>
        <p:txBody>
          <a:bodyPr wrap="square">
            <a:spAutoFit/>
          </a:bodyPr>
          <a:lstStyle/>
          <a:p>
            <a:pPr algn="l"/>
            <a:r>
              <a:rPr sz="1050" b="1" i="0">
                <a:solidFill>
                  <a:srgbClr val="1A5C9A"/>
                </a:solidFill>
              </a:rPr>
              <a:t>Business Key Confirmation</a:t>
            </a:r>
          </a:p>
        </p:txBody>
      </p:sp>
      <p:sp>
        <p:nvSpPr>
          <p:cNvPr id="56" name="TextBox 55"/>
          <p:cNvSpPr txBox="1"/>
          <p:nvPr/>
        </p:nvSpPr>
        <p:spPr>
          <a:xfrm>
            <a:off x="6537960" y="2834640"/>
            <a:ext cx="5257800" cy="530352"/>
          </a:xfrm>
          <a:prstGeom prst="rect">
            <a:avLst/>
          </a:prstGeom>
          <a:noFill/>
        </p:spPr>
        <p:txBody>
          <a:bodyPr wrap="square">
            <a:spAutoFit/>
          </a:bodyPr>
          <a:lstStyle/>
          <a:p>
            <a:pPr algn="l"/>
            <a:r>
              <a:rPr sz="850" b="0" i="0">
                <a:solidFill>
                  <a:srgbClr val="3D4D6A"/>
                </a:solidFill>
              </a:rPr>
              <a:t>Before calling SP_GENERATE_DV_PROPOSAL, modeler reviews PK candidates scored 0-100. A MODELER_SELECTED row is inserted with PK_SCORE = 100 and MODELER_SELECTED = TRUE. This propagates to the prompt as '← MODELER CONFIRMED'.</a:t>
            </a:r>
          </a:p>
        </p:txBody>
      </p:sp>
      <p:sp>
        <p:nvSpPr>
          <p:cNvPr id="57" name="Rounded Rectangle 56"/>
          <p:cNvSpPr/>
          <p:nvPr/>
        </p:nvSpPr>
        <p:spPr>
          <a:xfrm>
            <a:off x="6355080" y="3520440"/>
            <a:ext cx="5623560" cy="914400"/>
          </a:xfrm>
          <a:prstGeom prst="roundRect">
            <a:avLst>
              <a:gd name="adj" fmla="val 5000"/>
            </a:avLst>
          </a:prstGeom>
          <a:solidFill>
            <a:srgbClr val="FFFFFF"/>
          </a:solidFill>
          <a:ln w="1905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355080" y="3520440"/>
            <a:ext cx="91440" cy="914400"/>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37960" y="3575304"/>
            <a:ext cx="5257800" cy="256032"/>
          </a:xfrm>
          <a:prstGeom prst="rect">
            <a:avLst/>
          </a:prstGeom>
          <a:noFill/>
        </p:spPr>
        <p:txBody>
          <a:bodyPr wrap="square">
            <a:spAutoFit/>
          </a:bodyPr>
          <a:lstStyle/>
          <a:p>
            <a:pPr algn="l"/>
            <a:r>
              <a:rPr sz="1050" b="1" i="0">
                <a:solidFill>
                  <a:srgbClr val="0D8A84"/>
                </a:solidFill>
              </a:rPr>
              <a:t>Approved Column Definitions</a:t>
            </a:r>
          </a:p>
        </p:txBody>
      </p:sp>
      <p:sp>
        <p:nvSpPr>
          <p:cNvPr id="60" name="TextBox 59"/>
          <p:cNvSpPr txBox="1"/>
          <p:nvPr/>
        </p:nvSpPr>
        <p:spPr>
          <a:xfrm>
            <a:off x="6537960" y="3840480"/>
            <a:ext cx="5257800" cy="530352"/>
          </a:xfrm>
          <a:prstGeom prst="rect">
            <a:avLst/>
          </a:prstGeom>
          <a:noFill/>
        </p:spPr>
        <p:txBody>
          <a:bodyPr wrap="square">
            <a:spAutoFit/>
          </a:bodyPr>
          <a:lstStyle/>
          <a:p>
            <a:pPr algn="l"/>
            <a:r>
              <a:rPr sz="850" b="0" i="0">
                <a:solidFill>
                  <a:srgbClr val="3D4D6A"/>
                </a:solidFill>
              </a:rPr>
              <a:t>META.DV_COLUMN_DEFINITIONS stores modeler-approved business definitions per column. These are injected as a dedicated section:
  'APPROVED COLUMN DEFINITIONS — USE THESE VERBATIM'
AI cannot paraphrase, shorten, or rewrite them.</a:t>
            </a:r>
          </a:p>
        </p:txBody>
      </p:sp>
      <p:sp>
        <p:nvSpPr>
          <p:cNvPr id="61" name="Rounded Rectangle 60"/>
          <p:cNvSpPr/>
          <p:nvPr/>
        </p:nvSpPr>
        <p:spPr>
          <a:xfrm>
            <a:off x="6355080" y="4526280"/>
            <a:ext cx="5623560" cy="914400"/>
          </a:xfrm>
          <a:prstGeom prst="roundRect">
            <a:avLst>
              <a:gd name="adj" fmla="val 5000"/>
            </a:avLst>
          </a:prstGeom>
          <a:solidFill>
            <a:srgbClr val="FFFFFF"/>
          </a:solidFill>
          <a:ln w="190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355080" y="4526280"/>
            <a:ext cx="91440" cy="914400"/>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37960" y="4581144"/>
            <a:ext cx="5257800" cy="256032"/>
          </a:xfrm>
          <a:prstGeom prst="rect">
            <a:avLst/>
          </a:prstGeom>
          <a:noFill/>
        </p:spPr>
        <p:txBody>
          <a:bodyPr wrap="square">
            <a:spAutoFit/>
          </a:bodyPr>
          <a:lstStyle/>
          <a:p>
            <a:pPr algn="l"/>
            <a:r>
              <a:rPr sz="1050" b="1" i="0">
                <a:solidFill>
                  <a:srgbClr val="198A55"/>
                </a:solidFill>
              </a:rPr>
              <a:t>Confidence Transparency</a:t>
            </a:r>
          </a:p>
        </p:txBody>
      </p:sp>
      <p:sp>
        <p:nvSpPr>
          <p:cNvPr id="64" name="TextBox 63"/>
          <p:cNvSpPr txBox="1"/>
          <p:nvPr/>
        </p:nvSpPr>
        <p:spPr>
          <a:xfrm>
            <a:off x="6537960" y="4846320"/>
            <a:ext cx="5257800" cy="530352"/>
          </a:xfrm>
          <a:prstGeom prst="rect">
            <a:avLst/>
          </a:prstGeom>
          <a:noFill/>
        </p:spPr>
        <p:txBody>
          <a:bodyPr wrap="square">
            <a:spAutoFit/>
          </a:bodyPr>
          <a:lstStyle/>
          <a:p>
            <a:pPr algn="l"/>
            <a:r>
              <a:rPr sz="850" b="0" i="0">
                <a:solidFill>
                  <a:srgbClr val="3D4D6A"/>
                </a:solidFill>
              </a:rPr>
              <a:t>AI rates each entity HIGH / MEDIUM / LOW / INFERRED. LOW or INFERRED confidence triggers a warning in the proposal. Modeler sees confidence badges in the workbench — prompting them to add notes and regenerate before approving.</a:t>
            </a:r>
          </a:p>
        </p:txBody>
      </p:sp>
      <p:sp>
        <p:nvSpPr>
          <p:cNvPr id="65" name="Rounded Rectangle 64"/>
          <p:cNvSpPr/>
          <p:nvPr/>
        </p:nvSpPr>
        <p:spPr>
          <a:xfrm>
            <a:off x="6355080" y="5532120"/>
            <a:ext cx="5623560" cy="914400"/>
          </a:xfrm>
          <a:prstGeom prst="roundRect">
            <a:avLst>
              <a:gd name="adj" fmla="val 5000"/>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355080" y="5532120"/>
            <a:ext cx="9144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37960" y="5586984"/>
            <a:ext cx="5257800" cy="256032"/>
          </a:xfrm>
          <a:prstGeom prst="rect">
            <a:avLst/>
          </a:prstGeom>
          <a:noFill/>
        </p:spPr>
        <p:txBody>
          <a:bodyPr wrap="square">
            <a:spAutoFit/>
          </a:bodyPr>
          <a:lstStyle/>
          <a:p>
            <a:pPr algn="l"/>
            <a:r>
              <a:rPr sz="1050" b="1" i="0">
                <a:solidFill>
                  <a:srgbClr val="C0392B"/>
                </a:solidFill>
              </a:rPr>
              <a:t>Deprecation &amp; Exclusion</a:t>
            </a:r>
          </a:p>
        </p:txBody>
      </p:sp>
      <p:sp>
        <p:nvSpPr>
          <p:cNvPr id="68" name="TextBox 67"/>
          <p:cNvSpPr txBox="1"/>
          <p:nvPr/>
        </p:nvSpPr>
        <p:spPr>
          <a:xfrm>
            <a:off x="6537960" y="5852160"/>
            <a:ext cx="5257800" cy="530352"/>
          </a:xfrm>
          <a:prstGeom prst="rect">
            <a:avLst/>
          </a:prstGeom>
          <a:noFill/>
        </p:spPr>
        <p:txBody>
          <a:bodyPr wrap="square">
            <a:spAutoFit/>
          </a:bodyPr>
          <a:lstStyle/>
          <a:p>
            <a:pPr algn="l"/>
            <a:r>
              <a:rPr sz="850" b="0" i="0">
                <a:solidFill>
                  <a:srgbClr val="3D4D6A"/>
                </a:solidFill>
              </a:rPr>
              <a:t>Modeler notes like 'EXCLUDE COLUMN X — deprecated in v2' cause AI to omit those columns from all entities. Mention in rationale is mandatory.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Metadata Tables — The NEXUS Registry</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All platform state lives in META schema — source of truth for AI, approvals, DDL, and dbt generation</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7</a:t>
            </a:r>
          </a:p>
        </p:txBody>
      </p:sp>
      <p:sp>
        <p:nvSpPr>
          <p:cNvPr id="10" name="Rounded Rectangle 9"/>
          <p:cNvSpPr/>
          <p:nvPr/>
        </p:nvSpPr>
        <p:spPr>
          <a:xfrm>
            <a:off x="228600" y="1143000"/>
            <a:ext cx="3749039" cy="1024128"/>
          </a:xfrm>
          <a:prstGeom prst="roundRect">
            <a:avLst>
              <a:gd name="adj" fmla="val 5000"/>
            </a:avLst>
          </a:prstGeom>
          <a:solidFill>
            <a:srgbClr val="FFFFFF"/>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28600" y="1143000"/>
            <a:ext cx="3749039" cy="292608"/>
          </a:xfrm>
          <a:prstGeom prst="roundRect">
            <a:avLst>
              <a:gd name="adj" fmla="val 3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1161288"/>
            <a:ext cx="3566160" cy="256032"/>
          </a:xfrm>
          <a:prstGeom prst="rect">
            <a:avLst/>
          </a:prstGeom>
          <a:noFill/>
        </p:spPr>
        <p:txBody>
          <a:bodyPr wrap="square">
            <a:spAutoFit/>
          </a:bodyPr>
          <a:lstStyle/>
          <a:p>
            <a:pPr algn="l"/>
            <a:r>
              <a:rPr sz="950" b="1" i="0">
                <a:solidFill>
                  <a:srgbClr val="FFFFFF"/>
                </a:solidFill>
              </a:rPr>
              <a:t>DV_ENTITY</a:t>
            </a:r>
          </a:p>
        </p:txBody>
      </p:sp>
      <p:sp>
        <p:nvSpPr>
          <p:cNvPr id="13" name="TextBox 12"/>
          <p:cNvSpPr txBox="1"/>
          <p:nvPr/>
        </p:nvSpPr>
        <p:spPr>
          <a:xfrm>
            <a:off x="320040" y="1481328"/>
            <a:ext cx="3566160" cy="237744"/>
          </a:xfrm>
          <a:prstGeom prst="rect">
            <a:avLst/>
          </a:prstGeom>
          <a:noFill/>
        </p:spPr>
        <p:txBody>
          <a:bodyPr wrap="square">
            <a:spAutoFit/>
          </a:bodyPr>
          <a:lstStyle/>
          <a:p>
            <a:pPr algn="l"/>
            <a:r>
              <a:rPr sz="850" b="0" i="0">
                <a:solidFill>
                  <a:srgbClr val="142B4C"/>
                </a:solidFill>
              </a:rPr>
              <a:t>Central registry of all vault entities</a:t>
            </a:r>
          </a:p>
        </p:txBody>
      </p:sp>
      <p:sp>
        <p:nvSpPr>
          <p:cNvPr id="14" name="TextBox 13"/>
          <p:cNvSpPr txBox="1"/>
          <p:nvPr/>
        </p:nvSpPr>
        <p:spPr>
          <a:xfrm>
            <a:off x="320040" y="1719072"/>
            <a:ext cx="3566160" cy="365760"/>
          </a:xfrm>
          <a:prstGeom prst="rect">
            <a:avLst/>
          </a:prstGeom>
          <a:noFill/>
        </p:spPr>
        <p:txBody>
          <a:bodyPr wrap="square">
            <a:spAutoFit/>
          </a:bodyPr>
          <a:lstStyle/>
          <a:p>
            <a:pPr algn="l"/>
            <a:r>
              <a:rPr sz="750" b="0" i="1">
                <a:solidFill>
                  <a:srgbClr val="3D4D6A"/>
                </a:solidFill>
              </a:rPr>
              <a:t>ENTITY_ID · ENTITY_TYPE · APPROVAL_STATUS · DOMAIN</a:t>
            </a:r>
          </a:p>
        </p:txBody>
      </p:sp>
      <p:sp>
        <p:nvSpPr>
          <p:cNvPr id="15" name="Rounded Rectangle 14"/>
          <p:cNvSpPr/>
          <p:nvPr/>
        </p:nvSpPr>
        <p:spPr>
          <a:xfrm>
            <a:off x="228600" y="2377440"/>
            <a:ext cx="3749039" cy="1024128"/>
          </a:xfrm>
          <a:prstGeom prst="roundRect">
            <a:avLst>
              <a:gd name="adj" fmla="val 5000"/>
            </a:avLst>
          </a:prstGeom>
          <a:solidFill>
            <a:srgbClr val="FFFFFF"/>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28600" y="2377440"/>
            <a:ext cx="3749039" cy="292608"/>
          </a:xfrm>
          <a:prstGeom prst="roundRect">
            <a:avLst>
              <a:gd name="adj" fmla="val 3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395728"/>
            <a:ext cx="3566160" cy="256032"/>
          </a:xfrm>
          <a:prstGeom prst="rect">
            <a:avLst/>
          </a:prstGeom>
          <a:noFill/>
        </p:spPr>
        <p:txBody>
          <a:bodyPr wrap="square">
            <a:spAutoFit/>
          </a:bodyPr>
          <a:lstStyle/>
          <a:p>
            <a:pPr algn="l"/>
            <a:r>
              <a:rPr sz="950" b="1" i="0">
                <a:solidFill>
                  <a:srgbClr val="FFFFFF"/>
                </a:solidFill>
              </a:rPr>
              <a:t>DV_ENTITY_COLUMN</a:t>
            </a:r>
          </a:p>
        </p:txBody>
      </p:sp>
      <p:sp>
        <p:nvSpPr>
          <p:cNvPr id="18" name="TextBox 17"/>
          <p:cNvSpPr txBox="1"/>
          <p:nvPr/>
        </p:nvSpPr>
        <p:spPr>
          <a:xfrm>
            <a:off x="320040" y="2715768"/>
            <a:ext cx="3566160" cy="237744"/>
          </a:xfrm>
          <a:prstGeom prst="rect">
            <a:avLst/>
          </a:prstGeom>
          <a:noFill/>
        </p:spPr>
        <p:txBody>
          <a:bodyPr wrap="square">
            <a:spAutoFit/>
          </a:bodyPr>
          <a:lstStyle/>
          <a:p>
            <a:pPr algn="l"/>
            <a:r>
              <a:rPr sz="850" b="0" i="0">
                <a:solidFill>
                  <a:srgbClr val="142B4C"/>
                </a:solidFill>
              </a:rPr>
              <a:t>Column definitions for each entity</a:t>
            </a:r>
          </a:p>
        </p:txBody>
      </p:sp>
      <p:sp>
        <p:nvSpPr>
          <p:cNvPr id="19" name="TextBox 18"/>
          <p:cNvSpPr txBox="1"/>
          <p:nvPr/>
        </p:nvSpPr>
        <p:spPr>
          <a:xfrm>
            <a:off x="320040" y="2953512"/>
            <a:ext cx="3566160" cy="365760"/>
          </a:xfrm>
          <a:prstGeom prst="rect">
            <a:avLst/>
          </a:prstGeom>
          <a:noFill/>
        </p:spPr>
        <p:txBody>
          <a:bodyPr wrap="square">
            <a:spAutoFit/>
          </a:bodyPr>
          <a:lstStyle/>
          <a:p>
            <a:pPr algn="l"/>
            <a:r>
              <a:rPr sz="750" b="0" i="1">
                <a:solidFill>
                  <a:srgbClr val="3D4D6A"/>
                </a:solidFill>
              </a:rPr>
              <a:t>COLUMN_ROLE (HK/BK/ATTR/META) · DATA_TYPE · SOURCE_COLUMN</a:t>
            </a:r>
          </a:p>
        </p:txBody>
      </p:sp>
      <p:sp>
        <p:nvSpPr>
          <p:cNvPr id="20" name="Rounded Rectangle 19"/>
          <p:cNvSpPr/>
          <p:nvPr/>
        </p:nvSpPr>
        <p:spPr>
          <a:xfrm>
            <a:off x="4069080" y="1143000"/>
            <a:ext cx="3749039" cy="1024128"/>
          </a:xfrm>
          <a:prstGeom prst="roundRect">
            <a:avLst>
              <a:gd name="adj" fmla="val 5000"/>
            </a:avLst>
          </a:prstGeom>
          <a:solidFill>
            <a:srgbClr val="FFFFFF"/>
          </a:solidFill>
          <a:ln w="1905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069080" y="1143000"/>
            <a:ext cx="3749039" cy="292608"/>
          </a:xfrm>
          <a:prstGeom prst="roundRect">
            <a:avLst>
              <a:gd name="adj" fmla="val 3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0520" y="1161288"/>
            <a:ext cx="3566160" cy="256032"/>
          </a:xfrm>
          <a:prstGeom prst="rect">
            <a:avLst/>
          </a:prstGeom>
          <a:noFill/>
        </p:spPr>
        <p:txBody>
          <a:bodyPr wrap="square">
            <a:spAutoFit/>
          </a:bodyPr>
          <a:lstStyle/>
          <a:p>
            <a:pPr algn="l"/>
            <a:r>
              <a:rPr sz="950" b="1" i="0">
                <a:solidFill>
                  <a:srgbClr val="FFFFFF"/>
                </a:solidFill>
              </a:rPr>
              <a:t>DV_HASH_DEFINITION</a:t>
            </a:r>
          </a:p>
        </p:txBody>
      </p:sp>
      <p:sp>
        <p:nvSpPr>
          <p:cNvPr id="23" name="TextBox 22"/>
          <p:cNvSpPr txBox="1"/>
          <p:nvPr/>
        </p:nvSpPr>
        <p:spPr>
          <a:xfrm>
            <a:off x="4160520" y="1481328"/>
            <a:ext cx="3566160" cy="237744"/>
          </a:xfrm>
          <a:prstGeom prst="rect">
            <a:avLst/>
          </a:prstGeom>
          <a:noFill/>
        </p:spPr>
        <p:txBody>
          <a:bodyPr wrap="square">
            <a:spAutoFit/>
          </a:bodyPr>
          <a:lstStyle/>
          <a:p>
            <a:pPr algn="l"/>
            <a:r>
              <a:rPr sz="850" b="0" i="0">
                <a:solidFill>
                  <a:srgbClr val="142B4C"/>
                </a:solidFill>
              </a:rPr>
              <a:t>Reproducible hash key specifications</a:t>
            </a:r>
          </a:p>
        </p:txBody>
      </p:sp>
      <p:sp>
        <p:nvSpPr>
          <p:cNvPr id="24" name="TextBox 23"/>
          <p:cNvSpPr txBox="1"/>
          <p:nvPr/>
        </p:nvSpPr>
        <p:spPr>
          <a:xfrm>
            <a:off x="4160520" y="1719072"/>
            <a:ext cx="3566160" cy="365760"/>
          </a:xfrm>
          <a:prstGeom prst="rect">
            <a:avLst/>
          </a:prstGeom>
          <a:noFill/>
        </p:spPr>
        <p:txBody>
          <a:bodyPr wrap="square">
            <a:spAutoFit/>
          </a:bodyPr>
          <a:lstStyle/>
          <a:p>
            <a:pPr algn="l"/>
            <a:r>
              <a:rPr sz="750" b="0" i="1">
                <a:solidFill>
                  <a:srgbClr val="3D4D6A"/>
                </a:solidFill>
              </a:rPr>
              <a:t>ALGORITHM · SOURCE_COLUMNS[] · NULL_REPLACEMENT · DELIMITER</a:t>
            </a:r>
          </a:p>
        </p:txBody>
      </p:sp>
      <p:sp>
        <p:nvSpPr>
          <p:cNvPr id="25" name="Rounded Rectangle 24"/>
          <p:cNvSpPr/>
          <p:nvPr/>
        </p:nvSpPr>
        <p:spPr>
          <a:xfrm>
            <a:off x="4069080" y="2377440"/>
            <a:ext cx="3749039" cy="1024128"/>
          </a:xfrm>
          <a:prstGeom prst="roundRect">
            <a:avLst>
              <a:gd name="adj" fmla="val 5000"/>
            </a:avLst>
          </a:prstGeom>
          <a:solidFill>
            <a:srgbClr val="FFFFFF"/>
          </a:solidFill>
          <a:ln w="1905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069080" y="2377440"/>
            <a:ext cx="3749039" cy="292608"/>
          </a:xfrm>
          <a:prstGeom prst="roundRect">
            <a:avLst>
              <a:gd name="adj" fmla="val 3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60520" y="2395728"/>
            <a:ext cx="3566160" cy="256032"/>
          </a:xfrm>
          <a:prstGeom prst="rect">
            <a:avLst/>
          </a:prstGeom>
          <a:noFill/>
        </p:spPr>
        <p:txBody>
          <a:bodyPr wrap="square">
            <a:spAutoFit/>
          </a:bodyPr>
          <a:lstStyle/>
          <a:p>
            <a:pPr algn="l"/>
            <a:r>
              <a:rPr sz="950" b="1" i="0">
                <a:solidFill>
                  <a:srgbClr val="FFFFFF"/>
                </a:solidFill>
              </a:rPr>
              <a:t>DV_SOURCE_MAPPING</a:t>
            </a:r>
          </a:p>
        </p:txBody>
      </p:sp>
      <p:sp>
        <p:nvSpPr>
          <p:cNvPr id="28" name="TextBox 27"/>
          <p:cNvSpPr txBox="1"/>
          <p:nvPr/>
        </p:nvSpPr>
        <p:spPr>
          <a:xfrm>
            <a:off x="4160520" y="2715768"/>
            <a:ext cx="3566160" cy="237744"/>
          </a:xfrm>
          <a:prstGeom prst="rect">
            <a:avLst/>
          </a:prstGeom>
          <a:noFill/>
        </p:spPr>
        <p:txBody>
          <a:bodyPr wrap="square">
            <a:spAutoFit/>
          </a:bodyPr>
          <a:lstStyle/>
          <a:p>
            <a:pPr algn="l"/>
            <a:r>
              <a:rPr sz="850" b="0" i="0">
                <a:solidFill>
                  <a:srgbClr val="142B4C"/>
                </a:solidFill>
              </a:rPr>
              <a:t>Source-to-vault column lineage</a:t>
            </a:r>
          </a:p>
        </p:txBody>
      </p:sp>
      <p:sp>
        <p:nvSpPr>
          <p:cNvPr id="29" name="TextBox 28"/>
          <p:cNvSpPr txBox="1"/>
          <p:nvPr/>
        </p:nvSpPr>
        <p:spPr>
          <a:xfrm>
            <a:off x="4160520" y="2953512"/>
            <a:ext cx="3566160" cy="365760"/>
          </a:xfrm>
          <a:prstGeom prst="rect">
            <a:avLst/>
          </a:prstGeom>
          <a:noFill/>
        </p:spPr>
        <p:txBody>
          <a:bodyPr wrap="square">
            <a:spAutoFit/>
          </a:bodyPr>
          <a:lstStyle/>
          <a:p>
            <a:pPr algn="l"/>
            <a:r>
              <a:rPr sz="750" b="0" i="1">
                <a:solidFill>
                  <a:srgbClr val="3D4D6A"/>
                </a:solidFill>
              </a:rPr>
              <a:t>SOURCE_TABLE · SOURCE_COLUMN · TARGET_ENTITY · TRANSFORMATION</a:t>
            </a:r>
          </a:p>
        </p:txBody>
      </p:sp>
      <p:sp>
        <p:nvSpPr>
          <p:cNvPr id="30" name="Rounded Rectangle 29"/>
          <p:cNvSpPr/>
          <p:nvPr/>
        </p:nvSpPr>
        <p:spPr>
          <a:xfrm>
            <a:off x="228600" y="3611880"/>
            <a:ext cx="3749039" cy="1024128"/>
          </a:xfrm>
          <a:prstGeom prst="roundRect">
            <a:avLst>
              <a:gd name="adj" fmla="val 5000"/>
            </a:avLst>
          </a:prstGeom>
          <a:solidFill>
            <a:srgbClr val="FFFFFF"/>
          </a:solidFill>
          <a:ln w="1905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28600" y="3611880"/>
            <a:ext cx="3749039" cy="292608"/>
          </a:xfrm>
          <a:prstGeom prst="roundRect">
            <a:avLst>
              <a:gd name="adj" fmla="val 3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3630168"/>
            <a:ext cx="3566160" cy="256032"/>
          </a:xfrm>
          <a:prstGeom prst="rect">
            <a:avLst/>
          </a:prstGeom>
          <a:noFill/>
        </p:spPr>
        <p:txBody>
          <a:bodyPr wrap="square">
            <a:spAutoFit/>
          </a:bodyPr>
          <a:lstStyle/>
          <a:p>
            <a:pPr algn="l"/>
            <a:r>
              <a:rPr sz="950" b="1" i="0">
                <a:solidFill>
                  <a:srgbClr val="FFFFFF"/>
                </a:solidFill>
              </a:rPr>
              <a:t>DV_PROFILING_RUN</a:t>
            </a:r>
          </a:p>
        </p:txBody>
      </p:sp>
      <p:sp>
        <p:nvSpPr>
          <p:cNvPr id="33" name="TextBox 32"/>
          <p:cNvSpPr txBox="1"/>
          <p:nvPr/>
        </p:nvSpPr>
        <p:spPr>
          <a:xfrm>
            <a:off x="320040" y="3950208"/>
            <a:ext cx="3566160" cy="237744"/>
          </a:xfrm>
          <a:prstGeom prst="rect">
            <a:avLst/>
          </a:prstGeom>
          <a:noFill/>
        </p:spPr>
        <p:txBody>
          <a:bodyPr wrap="square">
            <a:spAutoFit/>
          </a:bodyPr>
          <a:lstStyle/>
          <a:p>
            <a:pPr algn="l"/>
            <a:r>
              <a:rPr sz="850" b="0" i="0">
                <a:solidFill>
                  <a:srgbClr val="142B4C"/>
                </a:solidFill>
              </a:rPr>
              <a:t>One row per profiling execution</a:t>
            </a:r>
          </a:p>
        </p:txBody>
      </p:sp>
      <p:sp>
        <p:nvSpPr>
          <p:cNvPr id="34" name="TextBox 33"/>
          <p:cNvSpPr txBox="1"/>
          <p:nvPr/>
        </p:nvSpPr>
        <p:spPr>
          <a:xfrm>
            <a:off x="320040" y="4187952"/>
            <a:ext cx="3566160" cy="365760"/>
          </a:xfrm>
          <a:prstGeom prst="rect">
            <a:avLst/>
          </a:prstGeom>
          <a:noFill/>
        </p:spPr>
        <p:txBody>
          <a:bodyPr wrap="square">
            <a:spAutoFit/>
          </a:bodyPr>
          <a:lstStyle/>
          <a:p>
            <a:pPr algn="l"/>
            <a:r>
              <a:rPr sz="750" b="0" i="1">
                <a:solidFill>
                  <a:srgbClr val="3D4D6A"/>
                </a:solidFill>
              </a:rPr>
              <a:t>RUN_ID · ROW_COUNT · PROFILING_METHOD (EXACT/HLL) · STATUS</a:t>
            </a:r>
          </a:p>
        </p:txBody>
      </p:sp>
      <p:sp>
        <p:nvSpPr>
          <p:cNvPr id="35" name="Rounded Rectangle 34"/>
          <p:cNvSpPr/>
          <p:nvPr/>
        </p:nvSpPr>
        <p:spPr>
          <a:xfrm>
            <a:off x="228600" y="4663440"/>
            <a:ext cx="3749039" cy="1024128"/>
          </a:xfrm>
          <a:prstGeom prst="roundRect">
            <a:avLst>
              <a:gd name="adj" fmla="val 5000"/>
            </a:avLst>
          </a:prstGeom>
          <a:solidFill>
            <a:srgbClr val="FFFFFF"/>
          </a:solidFill>
          <a:ln w="1905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28600" y="4663440"/>
            <a:ext cx="3749039" cy="292608"/>
          </a:xfrm>
          <a:prstGeom prst="roundRect">
            <a:avLst>
              <a:gd name="adj" fmla="val 3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4681727"/>
            <a:ext cx="3566160" cy="256032"/>
          </a:xfrm>
          <a:prstGeom prst="rect">
            <a:avLst/>
          </a:prstGeom>
          <a:noFill/>
        </p:spPr>
        <p:txBody>
          <a:bodyPr wrap="square">
            <a:spAutoFit/>
          </a:bodyPr>
          <a:lstStyle/>
          <a:p>
            <a:pPr algn="l"/>
            <a:r>
              <a:rPr sz="950" b="1" i="0">
                <a:solidFill>
                  <a:srgbClr val="FFFFFF"/>
                </a:solidFill>
              </a:rPr>
              <a:t>DV_PROFILING_RESULTS</a:t>
            </a:r>
          </a:p>
        </p:txBody>
      </p:sp>
      <p:sp>
        <p:nvSpPr>
          <p:cNvPr id="38" name="TextBox 37"/>
          <p:cNvSpPr txBox="1"/>
          <p:nvPr/>
        </p:nvSpPr>
        <p:spPr>
          <a:xfrm>
            <a:off x="320040" y="5001768"/>
            <a:ext cx="3566160" cy="237744"/>
          </a:xfrm>
          <a:prstGeom prst="rect">
            <a:avLst/>
          </a:prstGeom>
          <a:noFill/>
        </p:spPr>
        <p:txBody>
          <a:bodyPr wrap="square">
            <a:spAutoFit/>
          </a:bodyPr>
          <a:lstStyle/>
          <a:p>
            <a:pPr algn="l"/>
            <a:r>
              <a:rPr sz="850" b="0" i="0">
                <a:solidFill>
                  <a:srgbClr val="142B4C"/>
                </a:solidFill>
              </a:rPr>
              <a:t>Per-column statistics per run</a:t>
            </a:r>
          </a:p>
        </p:txBody>
      </p:sp>
      <p:sp>
        <p:nvSpPr>
          <p:cNvPr id="39" name="TextBox 38"/>
          <p:cNvSpPr txBox="1"/>
          <p:nvPr/>
        </p:nvSpPr>
        <p:spPr>
          <a:xfrm>
            <a:off x="320040" y="5239512"/>
            <a:ext cx="3566160" cy="365760"/>
          </a:xfrm>
          <a:prstGeom prst="rect">
            <a:avLst/>
          </a:prstGeom>
          <a:noFill/>
        </p:spPr>
        <p:txBody>
          <a:bodyPr wrap="square">
            <a:spAutoFit/>
          </a:bodyPr>
          <a:lstStyle/>
          <a:p>
            <a:pPr algn="l"/>
            <a:r>
              <a:rPr sz="750" b="0" i="1">
                <a:solidFill>
                  <a:srgbClr val="3D4D6A"/>
                </a:solidFill>
              </a:rPr>
              <a:t>UNIQUENESS_RATIO · NULL_PCT · CHANGE_FREQUENCY · IS_PK_CANDIDATE</a:t>
            </a:r>
          </a:p>
        </p:txBody>
      </p:sp>
      <p:sp>
        <p:nvSpPr>
          <p:cNvPr id="40" name="Rounded Rectangle 39"/>
          <p:cNvSpPr/>
          <p:nvPr/>
        </p:nvSpPr>
        <p:spPr>
          <a:xfrm>
            <a:off x="4069080" y="3611880"/>
            <a:ext cx="3749039" cy="1024128"/>
          </a:xfrm>
          <a:prstGeom prst="roundRect">
            <a:avLst>
              <a:gd name="adj" fmla="val 5000"/>
            </a:avLst>
          </a:prstGeom>
          <a:solidFill>
            <a:srgbClr val="FFFFFF"/>
          </a:solidFill>
          <a:ln w="19050">
            <a:solidFill>
              <a:srgbClr val="E36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069080" y="3611880"/>
            <a:ext cx="3749039" cy="292608"/>
          </a:xfrm>
          <a:prstGeom prst="roundRect">
            <a:avLst>
              <a:gd name="adj" fmla="val 3000"/>
            </a:avLst>
          </a:prstGeom>
          <a:solidFill>
            <a:srgbClr val="E36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60520" y="3630168"/>
            <a:ext cx="3566160" cy="256032"/>
          </a:xfrm>
          <a:prstGeom prst="rect">
            <a:avLst/>
          </a:prstGeom>
          <a:noFill/>
        </p:spPr>
        <p:txBody>
          <a:bodyPr wrap="square">
            <a:spAutoFit/>
          </a:bodyPr>
          <a:lstStyle/>
          <a:p>
            <a:pPr algn="l"/>
            <a:r>
              <a:rPr sz="950" b="1" i="0">
                <a:solidFill>
                  <a:srgbClr val="FFFFFF"/>
                </a:solidFill>
              </a:rPr>
              <a:t>DV_PK_CANDIDATES</a:t>
            </a:r>
          </a:p>
        </p:txBody>
      </p:sp>
      <p:sp>
        <p:nvSpPr>
          <p:cNvPr id="43" name="TextBox 42"/>
          <p:cNvSpPr txBox="1"/>
          <p:nvPr/>
        </p:nvSpPr>
        <p:spPr>
          <a:xfrm>
            <a:off x="4160520" y="3950208"/>
            <a:ext cx="3566160" cy="237744"/>
          </a:xfrm>
          <a:prstGeom prst="rect">
            <a:avLst/>
          </a:prstGeom>
          <a:noFill/>
        </p:spPr>
        <p:txBody>
          <a:bodyPr wrap="square">
            <a:spAutoFit/>
          </a:bodyPr>
          <a:lstStyle/>
          <a:p>
            <a:pPr algn="l"/>
            <a:r>
              <a:rPr sz="850" b="0" i="0">
                <a:solidFill>
                  <a:srgbClr val="142B4C"/>
                </a:solidFill>
              </a:rPr>
              <a:t>Ranked business key candidates</a:t>
            </a:r>
          </a:p>
        </p:txBody>
      </p:sp>
      <p:sp>
        <p:nvSpPr>
          <p:cNvPr id="44" name="TextBox 43"/>
          <p:cNvSpPr txBox="1"/>
          <p:nvPr/>
        </p:nvSpPr>
        <p:spPr>
          <a:xfrm>
            <a:off x="4160520" y="4187952"/>
            <a:ext cx="3566160" cy="365760"/>
          </a:xfrm>
          <a:prstGeom prst="rect">
            <a:avLst/>
          </a:prstGeom>
          <a:noFill/>
        </p:spPr>
        <p:txBody>
          <a:bodyPr wrap="square">
            <a:spAutoFit/>
          </a:bodyPr>
          <a:lstStyle/>
          <a:p>
            <a:pPr algn="l"/>
            <a:r>
              <a:rPr sz="750" b="0" i="1">
                <a:solidFill>
                  <a:srgbClr val="3D4D6A"/>
                </a:solidFill>
              </a:rPr>
              <a:t>COLUMN_NAMES[] · PK_SCORE (0-100) · MODELER_SELECTED</a:t>
            </a:r>
          </a:p>
        </p:txBody>
      </p:sp>
      <p:sp>
        <p:nvSpPr>
          <p:cNvPr id="45" name="Rounded Rectangle 44"/>
          <p:cNvSpPr/>
          <p:nvPr/>
        </p:nvSpPr>
        <p:spPr>
          <a:xfrm>
            <a:off x="4069080" y="4663440"/>
            <a:ext cx="3749039" cy="1024128"/>
          </a:xfrm>
          <a:prstGeom prst="roundRect">
            <a:avLst>
              <a:gd name="adj" fmla="val 5000"/>
            </a:avLst>
          </a:prstGeom>
          <a:solidFill>
            <a:srgbClr val="FFFFFF"/>
          </a:solidFill>
          <a:ln w="19050">
            <a:solidFill>
              <a:srgbClr val="E36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069080" y="4663440"/>
            <a:ext cx="3749039" cy="292608"/>
          </a:xfrm>
          <a:prstGeom prst="roundRect">
            <a:avLst>
              <a:gd name="adj" fmla="val 3000"/>
            </a:avLst>
          </a:prstGeom>
          <a:solidFill>
            <a:srgbClr val="E36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60520" y="4681727"/>
            <a:ext cx="3566160" cy="256032"/>
          </a:xfrm>
          <a:prstGeom prst="rect">
            <a:avLst/>
          </a:prstGeom>
          <a:noFill/>
        </p:spPr>
        <p:txBody>
          <a:bodyPr wrap="square">
            <a:spAutoFit/>
          </a:bodyPr>
          <a:lstStyle/>
          <a:p>
            <a:pPr algn="l"/>
            <a:r>
              <a:rPr sz="950" b="1" i="0">
                <a:solidFill>
                  <a:srgbClr val="FFFFFF"/>
                </a:solidFill>
              </a:rPr>
              <a:t>DV_DESIGN_PROPOSAL</a:t>
            </a:r>
          </a:p>
        </p:txBody>
      </p:sp>
      <p:sp>
        <p:nvSpPr>
          <p:cNvPr id="48" name="TextBox 47"/>
          <p:cNvSpPr txBox="1"/>
          <p:nvPr/>
        </p:nvSpPr>
        <p:spPr>
          <a:xfrm>
            <a:off x="4160520" y="5001768"/>
            <a:ext cx="3566160" cy="237744"/>
          </a:xfrm>
          <a:prstGeom prst="rect">
            <a:avLst/>
          </a:prstGeom>
          <a:noFill/>
        </p:spPr>
        <p:txBody>
          <a:bodyPr wrap="square">
            <a:spAutoFit/>
          </a:bodyPr>
          <a:lstStyle/>
          <a:p>
            <a:pPr algn="l"/>
            <a:r>
              <a:rPr sz="850" b="0" i="0">
                <a:solidFill>
                  <a:srgbClr val="142B4C"/>
                </a:solidFill>
              </a:rPr>
              <a:t>Raw AI-generated proposal JSON</a:t>
            </a:r>
          </a:p>
        </p:txBody>
      </p:sp>
      <p:sp>
        <p:nvSpPr>
          <p:cNvPr id="49" name="TextBox 48"/>
          <p:cNvSpPr txBox="1"/>
          <p:nvPr/>
        </p:nvSpPr>
        <p:spPr>
          <a:xfrm>
            <a:off x="4160520" y="5239512"/>
            <a:ext cx="3566160" cy="365760"/>
          </a:xfrm>
          <a:prstGeom prst="rect">
            <a:avLst/>
          </a:prstGeom>
          <a:noFill/>
        </p:spPr>
        <p:txBody>
          <a:bodyPr wrap="square">
            <a:spAutoFit/>
          </a:bodyPr>
          <a:lstStyle/>
          <a:p>
            <a:pPr algn="l"/>
            <a:r>
              <a:rPr sz="750" b="0" i="1">
                <a:solidFill>
                  <a:srgbClr val="3D4D6A"/>
                </a:solidFill>
              </a:rPr>
              <a:t>PROPOSAL_JSON (VARIANT) · CONFIDENCE · INPUT_SCENARIO · STATUS</a:t>
            </a:r>
          </a:p>
        </p:txBody>
      </p:sp>
      <p:sp>
        <p:nvSpPr>
          <p:cNvPr id="50" name="Rounded Rectangle 49"/>
          <p:cNvSpPr/>
          <p:nvPr/>
        </p:nvSpPr>
        <p:spPr>
          <a:xfrm>
            <a:off x="7909560" y="1143000"/>
            <a:ext cx="3749039" cy="1024128"/>
          </a:xfrm>
          <a:prstGeom prst="roundRect">
            <a:avLst>
              <a:gd name="adj" fmla="val 5000"/>
            </a:avLst>
          </a:prstGeom>
          <a:solidFill>
            <a:srgbClr val="FFFFFF"/>
          </a:solidFill>
          <a:ln w="190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909560" y="1143000"/>
            <a:ext cx="3749039" cy="292608"/>
          </a:xfrm>
          <a:prstGeom prst="roundRect">
            <a:avLst>
              <a:gd name="adj" fmla="val 3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01000" y="1161288"/>
            <a:ext cx="3566160" cy="256032"/>
          </a:xfrm>
          <a:prstGeom prst="rect">
            <a:avLst/>
          </a:prstGeom>
          <a:noFill/>
        </p:spPr>
        <p:txBody>
          <a:bodyPr wrap="square">
            <a:spAutoFit/>
          </a:bodyPr>
          <a:lstStyle/>
          <a:p>
            <a:pPr algn="l"/>
            <a:r>
              <a:rPr sz="950" b="1" i="0">
                <a:solidFill>
                  <a:srgbClr val="FFFFFF"/>
                </a:solidFill>
              </a:rPr>
              <a:t>DV_DESIGN_WORKSPACE</a:t>
            </a:r>
          </a:p>
        </p:txBody>
      </p:sp>
      <p:sp>
        <p:nvSpPr>
          <p:cNvPr id="53" name="TextBox 52"/>
          <p:cNvSpPr txBox="1"/>
          <p:nvPr/>
        </p:nvSpPr>
        <p:spPr>
          <a:xfrm>
            <a:off x="8001000" y="1481328"/>
            <a:ext cx="3566160" cy="237744"/>
          </a:xfrm>
          <a:prstGeom prst="rect">
            <a:avLst/>
          </a:prstGeom>
          <a:noFill/>
        </p:spPr>
        <p:txBody>
          <a:bodyPr wrap="square">
            <a:spAutoFit/>
          </a:bodyPr>
          <a:lstStyle/>
          <a:p>
            <a:pPr algn="l"/>
            <a:r>
              <a:rPr sz="850" b="0" i="0">
                <a:solidFill>
                  <a:srgbClr val="142B4C"/>
                </a:solidFill>
              </a:rPr>
              <a:t>Modeler editing state + versioning</a:t>
            </a:r>
          </a:p>
        </p:txBody>
      </p:sp>
      <p:sp>
        <p:nvSpPr>
          <p:cNvPr id="54" name="TextBox 53"/>
          <p:cNvSpPr txBox="1"/>
          <p:nvPr/>
        </p:nvSpPr>
        <p:spPr>
          <a:xfrm>
            <a:off x="8001000" y="1719072"/>
            <a:ext cx="3566160" cy="365760"/>
          </a:xfrm>
          <a:prstGeom prst="rect">
            <a:avLst/>
          </a:prstGeom>
          <a:noFill/>
        </p:spPr>
        <p:txBody>
          <a:bodyPr wrap="square">
            <a:spAutoFit/>
          </a:bodyPr>
          <a:lstStyle/>
          <a:p>
            <a:pPr algn="l"/>
            <a:r>
              <a:rPr sz="750" b="0" i="1">
                <a:solidFill>
                  <a:srgbClr val="3D4D6A"/>
                </a:solidFill>
              </a:rPr>
              <a:t>WORKSPACE_JSON (VARIANT) · VERSION_NUMBER · STATUS · PARENT_WORKSPACE</a:t>
            </a:r>
          </a:p>
        </p:txBody>
      </p:sp>
      <p:sp>
        <p:nvSpPr>
          <p:cNvPr id="55" name="Rounded Rectangle 54"/>
          <p:cNvSpPr/>
          <p:nvPr/>
        </p:nvSpPr>
        <p:spPr>
          <a:xfrm>
            <a:off x="7909560" y="2377440"/>
            <a:ext cx="3749039" cy="1024128"/>
          </a:xfrm>
          <a:prstGeom prst="roundRect">
            <a:avLst>
              <a:gd name="adj" fmla="val 5000"/>
            </a:avLst>
          </a:prstGeom>
          <a:solidFill>
            <a:srgbClr val="FFFFFF"/>
          </a:solidFill>
          <a:ln w="1905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909560" y="2377440"/>
            <a:ext cx="3749039" cy="292608"/>
          </a:xfrm>
          <a:prstGeom prst="roundRect">
            <a:avLst>
              <a:gd name="adj" fmla="val 3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01000" y="2395728"/>
            <a:ext cx="3566160" cy="256032"/>
          </a:xfrm>
          <a:prstGeom prst="rect">
            <a:avLst/>
          </a:prstGeom>
          <a:noFill/>
        </p:spPr>
        <p:txBody>
          <a:bodyPr wrap="square">
            <a:spAutoFit/>
          </a:bodyPr>
          <a:lstStyle/>
          <a:p>
            <a:pPr algn="l"/>
            <a:r>
              <a:rPr sz="950" b="1" i="0">
                <a:solidFill>
                  <a:srgbClr val="FFFFFF"/>
                </a:solidFill>
              </a:rPr>
              <a:t>DV_COLUMN_DEFINITIONS</a:t>
            </a:r>
          </a:p>
        </p:txBody>
      </p:sp>
      <p:sp>
        <p:nvSpPr>
          <p:cNvPr id="58" name="TextBox 57"/>
          <p:cNvSpPr txBox="1"/>
          <p:nvPr/>
        </p:nvSpPr>
        <p:spPr>
          <a:xfrm>
            <a:off x="8001000" y="2715768"/>
            <a:ext cx="3566160" cy="237744"/>
          </a:xfrm>
          <a:prstGeom prst="rect">
            <a:avLst/>
          </a:prstGeom>
          <a:noFill/>
        </p:spPr>
        <p:txBody>
          <a:bodyPr wrap="square">
            <a:spAutoFit/>
          </a:bodyPr>
          <a:lstStyle/>
          <a:p>
            <a:pPr algn="l"/>
            <a:r>
              <a:rPr sz="850" b="0" i="0">
                <a:solidFill>
                  <a:srgbClr val="142B4C"/>
                </a:solidFill>
              </a:rPr>
              <a:t>Approved column business definitions</a:t>
            </a:r>
          </a:p>
        </p:txBody>
      </p:sp>
      <p:sp>
        <p:nvSpPr>
          <p:cNvPr id="59" name="TextBox 58"/>
          <p:cNvSpPr txBox="1"/>
          <p:nvPr/>
        </p:nvSpPr>
        <p:spPr>
          <a:xfrm>
            <a:off x="8001000" y="2953512"/>
            <a:ext cx="3566160" cy="365760"/>
          </a:xfrm>
          <a:prstGeom prst="rect">
            <a:avLst/>
          </a:prstGeom>
          <a:noFill/>
        </p:spPr>
        <p:txBody>
          <a:bodyPr wrap="square">
            <a:spAutoFit/>
          </a:bodyPr>
          <a:lstStyle/>
          <a:p>
            <a:pPr algn="l"/>
            <a:r>
              <a:rPr sz="750" b="0" i="1">
                <a:solidFill>
                  <a:srgbClr val="3D4D6A"/>
                </a:solidFill>
              </a:rPr>
              <a:t>DEFINITION · IS_SENSITIVE · TABLE_DESCRIPTION</a:t>
            </a:r>
          </a:p>
        </p:txBody>
      </p:sp>
      <p:sp>
        <p:nvSpPr>
          <p:cNvPr id="60" name="Rounded Rectangle 59"/>
          <p:cNvSpPr/>
          <p:nvPr/>
        </p:nvSpPr>
        <p:spPr>
          <a:xfrm>
            <a:off x="7909560" y="3611880"/>
            <a:ext cx="3749039" cy="1024128"/>
          </a:xfrm>
          <a:prstGeom prst="roundRect">
            <a:avLst>
              <a:gd name="adj" fmla="val 5000"/>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7909560" y="3611880"/>
            <a:ext cx="3749039" cy="292608"/>
          </a:xfrm>
          <a:prstGeom prst="roundRect">
            <a:avLst>
              <a:gd name="adj" fmla="val 3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01000" y="3630168"/>
            <a:ext cx="3566160" cy="256032"/>
          </a:xfrm>
          <a:prstGeom prst="rect">
            <a:avLst/>
          </a:prstGeom>
          <a:noFill/>
        </p:spPr>
        <p:txBody>
          <a:bodyPr wrap="square">
            <a:spAutoFit/>
          </a:bodyPr>
          <a:lstStyle/>
          <a:p>
            <a:pPr algn="l"/>
            <a:r>
              <a:rPr sz="950" b="1" i="0">
                <a:solidFill>
                  <a:srgbClr val="FFFFFF"/>
                </a:solidFill>
              </a:rPr>
              <a:t>DV_AI_SYSTEM_PROMPT</a:t>
            </a:r>
          </a:p>
        </p:txBody>
      </p:sp>
      <p:sp>
        <p:nvSpPr>
          <p:cNvPr id="63" name="TextBox 62"/>
          <p:cNvSpPr txBox="1"/>
          <p:nvPr/>
        </p:nvSpPr>
        <p:spPr>
          <a:xfrm>
            <a:off x="8001000" y="3950208"/>
            <a:ext cx="3566160" cy="237744"/>
          </a:xfrm>
          <a:prstGeom prst="rect">
            <a:avLst/>
          </a:prstGeom>
          <a:noFill/>
        </p:spPr>
        <p:txBody>
          <a:bodyPr wrap="square">
            <a:spAutoFit/>
          </a:bodyPr>
          <a:lstStyle/>
          <a:p>
            <a:pPr algn="l"/>
            <a:r>
              <a:rPr sz="850" b="0" i="0">
                <a:solidFill>
                  <a:srgbClr val="142B4C"/>
                </a:solidFill>
              </a:rPr>
              <a:t>Versioned DV2.0 standards (system prompt)</a:t>
            </a:r>
          </a:p>
        </p:txBody>
      </p:sp>
      <p:sp>
        <p:nvSpPr>
          <p:cNvPr id="64" name="TextBox 63"/>
          <p:cNvSpPr txBox="1"/>
          <p:nvPr/>
        </p:nvSpPr>
        <p:spPr>
          <a:xfrm>
            <a:off x="8001000" y="4187952"/>
            <a:ext cx="3566160" cy="365760"/>
          </a:xfrm>
          <a:prstGeom prst="rect">
            <a:avLst/>
          </a:prstGeom>
          <a:noFill/>
        </p:spPr>
        <p:txBody>
          <a:bodyPr wrap="square">
            <a:spAutoFit/>
          </a:bodyPr>
          <a:lstStyle/>
          <a:p>
            <a:pPr algn="l"/>
            <a:r>
              <a:rPr sz="750" b="0" i="1">
                <a:solidFill>
                  <a:srgbClr val="3D4D6A"/>
                </a:solidFill>
              </a:rPr>
              <a:t>SECTION_NAME · SECTION_ORDER · SECTION_CONTENT · VERSION</a:t>
            </a:r>
          </a:p>
        </p:txBody>
      </p:sp>
      <p:sp>
        <p:nvSpPr>
          <p:cNvPr id="65" name="Rounded Rectangle 64"/>
          <p:cNvSpPr/>
          <p:nvPr/>
        </p:nvSpPr>
        <p:spPr>
          <a:xfrm>
            <a:off x="7909560" y="4663440"/>
            <a:ext cx="3749039" cy="1024128"/>
          </a:xfrm>
          <a:prstGeom prst="roundRect">
            <a:avLst>
              <a:gd name="adj" fmla="val 5000"/>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909560" y="4663440"/>
            <a:ext cx="3749039" cy="292608"/>
          </a:xfrm>
          <a:prstGeom prst="roundRect">
            <a:avLst>
              <a:gd name="adj" fmla="val 3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01000" y="4681727"/>
            <a:ext cx="3566160" cy="256032"/>
          </a:xfrm>
          <a:prstGeom prst="rect">
            <a:avLst/>
          </a:prstGeom>
          <a:noFill/>
        </p:spPr>
        <p:txBody>
          <a:bodyPr wrap="square">
            <a:spAutoFit/>
          </a:bodyPr>
          <a:lstStyle/>
          <a:p>
            <a:pPr algn="l"/>
            <a:r>
              <a:rPr sz="950" b="1" i="0">
                <a:solidFill>
                  <a:srgbClr val="FFFFFF"/>
                </a:solidFill>
              </a:rPr>
              <a:t>DV_AUDIT_LOG</a:t>
            </a:r>
          </a:p>
        </p:txBody>
      </p:sp>
      <p:sp>
        <p:nvSpPr>
          <p:cNvPr id="68" name="TextBox 67"/>
          <p:cNvSpPr txBox="1"/>
          <p:nvPr/>
        </p:nvSpPr>
        <p:spPr>
          <a:xfrm>
            <a:off x="8001000" y="5001768"/>
            <a:ext cx="3566160" cy="237744"/>
          </a:xfrm>
          <a:prstGeom prst="rect">
            <a:avLst/>
          </a:prstGeom>
          <a:noFill/>
        </p:spPr>
        <p:txBody>
          <a:bodyPr wrap="square">
            <a:spAutoFit/>
          </a:bodyPr>
          <a:lstStyle/>
          <a:p>
            <a:pPr algn="l"/>
            <a:r>
              <a:rPr sz="850" b="0" i="0">
                <a:solidFill>
                  <a:srgbClr val="142B4C"/>
                </a:solidFill>
              </a:rPr>
              <a:t>Immutable governance audit trail</a:t>
            </a:r>
          </a:p>
        </p:txBody>
      </p:sp>
      <p:sp>
        <p:nvSpPr>
          <p:cNvPr id="69" name="TextBox 68"/>
          <p:cNvSpPr txBox="1"/>
          <p:nvPr/>
        </p:nvSpPr>
        <p:spPr>
          <a:xfrm>
            <a:off x="8001000" y="5239512"/>
            <a:ext cx="3566160" cy="365760"/>
          </a:xfrm>
          <a:prstGeom prst="rect">
            <a:avLst/>
          </a:prstGeom>
          <a:noFill/>
        </p:spPr>
        <p:txBody>
          <a:bodyPr wrap="square">
            <a:spAutoFit/>
          </a:bodyPr>
          <a:lstStyle/>
          <a:p>
            <a:pPr algn="l"/>
            <a:r>
              <a:rPr sz="750" b="0" i="1">
                <a:solidFill>
                  <a:srgbClr val="3D4D6A"/>
                </a:solidFill>
              </a:rPr>
              <a:t>ACTION_TYPE · ENTITY_ID · PERFORMED_BY · PERFORMED_AT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dbt Model Generation — Phase 4</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Approved registry metadata drives automated generation of staging, raw vault, and hash models</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8</a:t>
            </a:r>
          </a:p>
        </p:txBody>
      </p:sp>
      <p:sp>
        <p:nvSpPr>
          <p:cNvPr id="10" name="Rounded Rectangle 9"/>
          <p:cNvSpPr/>
          <p:nvPr/>
        </p:nvSpPr>
        <p:spPr>
          <a:xfrm>
            <a:off x="274320" y="1188720"/>
            <a:ext cx="3200400" cy="4480560"/>
          </a:xfrm>
          <a:prstGeom prst="roundRect">
            <a:avLst>
              <a:gd name="adj" fmla="val 5000"/>
            </a:avLst>
          </a:prstGeom>
          <a:solidFill>
            <a:srgbClr val="FFFFFF"/>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 y="1188720"/>
            <a:ext cx="3200400" cy="475488"/>
          </a:xfrm>
          <a:prstGeom prst="roundRect">
            <a:avLst>
              <a:gd name="adj" fmla="val 4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216152"/>
            <a:ext cx="2926080" cy="384048"/>
          </a:xfrm>
          <a:prstGeom prst="rect">
            <a:avLst/>
          </a:prstGeom>
          <a:noFill/>
        </p:spPr>
        <p:txBody>
          <a:bodyPr wrap="square">
            <a:spAutoFit/>
          </a:bodyPr>
          <a:lstStyle/>
          <a:p>
            <a:pPr algn="l"/>
            <a:r>
              <a:rPr sz="1100" b="1" i="0">
                <a:solidFill>
                  <a:srgbClr val="FFFFFF"/>
                </a:solidFill>
              </a:rPr>
              <a:t>NEXUS Registry (META)</a:t>
            </a:r>
          </a:p>
        </p:txBody>
      </p:sp>
      <p:sp>
        <p:nvSpPr>
          <p:cNvPr id="13" name="Rounded Rectangle 12"/>
          <p:cNvSpPr/>
          <p:nvPr/>
        </p:nvSpPr>
        <p:spPr>
          <a:xfrm>
            <a:off x="411480" y="1810512"/>
            <a:ext cx="2926080" cy="502920"/>
          </a:xfrm>
          <a:prstGeom prst="roundRect">
            <a:avLst>
              <a:gd name="adj" fmla="val 5000"/>
            </a:avLst>
          </a:prstGeom>
          <a:solidFill>
            <a:srgbClr val="D6EAF8"/>
          </a:solidFill>
          <a:ln w="9525">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1837943"/>
            <a:ext cx="2743200" cy="228600"/>
          </a:xfrm>
          <a:prstGeom prst="rect">
            <a:avLst/>
          </a:prstGeom>
          <a:noFill/>
        </p:spPr>
        <p:txBody>
          <a:bodyPr wrap="square">
            <a:spAutoFit/>
          </a:bodyPr>
          <a:lstStyle/>
          <a:p>
            <a:pPr algn="l"/>
            <a:r>
              <a:rPr sz="900" b="1" i="0">
                <a:solidFill>
                  <a:srgbClr val="142B4C"/>
                </a:solidFill>
              </a:rPr>
              <a:t>DV_ENTITY</a:t>
            </a:r>
          </a:p>
        </p:txBody>
      </p:sp>
      <p:sp>
        <p:nvSpPr>
          <p:cNvPr id="15" name="TextBox 14"/>
          <p:cNvSpPr txBox="1"/>
          <p:nvPr/>
        </p:nvSpPr>
        <p:spPr>
          <a:xfrm>
            <a:off x="530352" y="2066543"/>
            <a:ext cx="2743200" cy="201168"/>
          </a:xfrm>
          <a:prstGeom prst="rect">
            <a:avLst/>
          </a:prstGeom>
          <a:noFill/>
        </p:spPr>
        <p:txBody>
          <a:bodyPr wrap="square">
            <a:spAutoFit/>
          </a:bodyPr>
          <a:lstStyle/>
          <a:p>
            <a:pPr algn="l"/>
            <a:r>
              <a:rPr sz="800" b="0" i="0">
                <a:solidFill>
                  <a:srgbClr val="3D4D6A"/>
                </a:solidFill>
              </a:rPr>
              <a:t>Vault entity list + type</a:t>
            </a:r>
          </a:p>
        </p:txBody>
      </p:sp>
      <p:sp>
        <p:nvSpPr>
          <p:cNvPr id="16" name="Rounded Rectangle 15"/>
          <p:cNvSpPr/>
          <p:nvPr/>
        </p:nvSpPr>
        <p:spPr>
          <a:xfrm>
            <a:off x="411480" y="2404872"/>
            <a:ext cx="2926080" cy="502920"/>
          </a:xfrm>
          <a:prstGeom prst="roundRect">
            <a:avLst>
              <a:gd name="adj" fmla="val 5000"/>
            </a:avLst>
          </a:prstGeom>
          <a:solidFill>
            <a:srgbClr val="D6EAF8"/>
          </a:solidFill>
          <a:ln w="9525">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2432303"/>
            <a:ext cx="2743200" cy="228600"/>
          </a:xfrm>
          <a:prstGeom prst="rect">
            <a:avLst/>
          </a:prstGeom>
          <a:noFill/>
        </p:spPr>
        <p:txBody>
          <a:bodyPr wrap="square">
            <a:spAutoFit/>
          </a:bodyPr>
          <a:lstStyle/>
          <a:p>
            <a:pPr algn="l"/>
            <a:r>
              <a:rPr sz="900" b="1" i="0">
                <a:solidFill>
                  <a:srgbClr val="142B4C"/>
                </a:solidFill>
              </a:rPr>
              <a:t>DV_ENTITY_COLUMN</a:t>
            </a:r>
          </a:p>
        </p:txBody>
      </p:sp>
      <p:sp>
        <p:nvSpPr>
          <p:cNvPr id="18" name="TextBox 17"/>
          <p:cNvSpPr txBox="1"/>
          <p:nvPr/>
        </p:nvSpPr>
        <p:spPr>
          <a:xfrm>
            <a:off x="530352" y="2660904"/>
            <a:ext cx="2743200" cy="201168"/>
          </a:xfrm>
          <a:prstGeom prst="rect">
            <a:avLst/>
          </a:prstGeom>
          <a:noFill/>
        </p:spPr>
        <p:txBody>
          <a:bodyPr wrap="square">
            <a:spAutoFit/>
          </a:bodyPr>
          <a:lstStyle/>
          <a:p>
            <a:pPr algn="l"/>
            <a:r>
              <a:rPr sz="800" b="0" i="0">
                <a:solidFill>
                  <a:srgbClr val="3D4D6A"/>
                </a:solidFill>
              </a:rPr>
              <a:t>Column roles + data types</a:t>
            </a:r>
          </a:p>
        </p:txBody>
      </p:sp>
      <p:sp>
        <p:nvSpPr>
          <p:cNvPr id="19" name="Rounded Rectangle 18"/>
          <p:cNvSpPr/>
          <p:nvPr/>
        </p:nvSpPr>
        <p:spPr>
          <a:xfrm>
            <a:off x="411480" y="2999232"/>
            <a:ext cx="2926080" cy="502920"/>
          </a:xfrm>
          <a:prstGeom prst="roundRect">
            <a:avLst>
              <a:gd name="adj" fmla="val 5000"/>
            </a:avLst>
          </a:prstGeom>
          <a:solidFill>
            <a:srgbClr val="D6EAF8"/>
          </a:solidFill>
          <a:ln w="9525">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026664"/>
            <a:ext cx="2743200" cy="228600"/>
          </a:xfrm>
          <a:prstGeom prst="rect">
            <a:avLst/>
          </a:prstGeom>
          <a:noFill/>
        </p:spPr>
        <p:txBody>
          <a:bodyPr wrap="square">
            <a:spAutoFit/>
          </a:bodyPr>
          <a:lstStyle/>
          <a:p>
            <a:pPr algn="l"/>
            <a:r>
              <a:rPr sz="900" b="1" i="0">
                <a:solidFill>
                  <a:srgbClr val="142B4C"/>
                </a:solidFill>
              </a:rPr>
              <a:t>DV_HASH_DEFINITION</a:t>
            </a:r>
          </a:p>
        </p:txBody>
      </p:sp>
      <p:sp>
        <p:nvSpPr>
          <p:cNvPr id="21" name="TextBox 20"/>
          <p:cNvSpPr txBox="1"/>
          <p:nvPr/>
        </p:nvSpPr>
        <p:spPr>
          <a:xfrm>
            <a:off x="530352" y="3255264"/>
            <a:ext cx="2743200" cy="201168"/>
          </a:xfrm>
          <a:prstGeom prst="rect">
            <a:avLst/>
          </a:prstGeom>
          <a:noFill/>
        </p:spPr>
        <p:txBody>
          <a:bodyPr wrap="square">
            <a:spAutoFit/>
          </a:bodyPr>
          <a:lstStyle/>
          <a:p>
            <a:pPr algn="l"/>
            <a:r>
              <a:rPr sz="800" b="0" i="0">
                <a:solidFill>
                  <a:srgbClr val="3D4D6A"/>
                </a:solidFill>
              </a:rPr>
              <a:t>Hash algorithm + source cols</a:t>
            </a:r>
          </a:p>
        </p:txBody>
      </p:sp>
      <p:sp>
        <p:nvSpPr>
          <p:cNvPr id="22" name="Rounded Rectangle 21"/>
          <p:cNvSpPr/>
          <p:nvPr/>
        </p:nvSpPr>
        <p:spPr>
          <a:xfrm>
            <a:off x="411480" y="3593592"/>
            <a:ext cx="2926080" cy="502920"/>
          </a:xfrm>
          <a:prstGeom prst="roundRect">
            <a:avLst>
              <a:gd name="adj" fmla="val 5000"/>
            </a:avLst>
          </a:prstGeom>
          <a:solidFill>
            <a:srgbClr val="D6EAF8"/>
          </a:solidFill>
          <a:ln w="9525">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3621024"/>
            <a:ext cx="2743200" cy="228600"/>
          </a:xfrm>
          <a:prstGeom prst="rect">
            <a:avLst/>
          </a:prstGeom>
          <a:noFill/>
        </p:spPr>
        <p:txBody>
          <a:bodyPr wrap="square">
            <a:spAutoFit/>
          </a:bodyPr>
          <a:lstStyle/>
          <a:p>
            <a:pPr algn="l"/>
            <a:r>
              <a:rPr sz="900" b="1" i="0">
                <a:solidFill>
                  <a:srgbClr val="142B4C"/>
                </a:solidFill>
              </a:rPr>
              <a:t>DV_SOURCE_MAPPING</a:t>
            </a:r>
          </a:p>
        </p:txBody>
      </p:sp>
      <p:sp>
        <p:nvSpPr>
          <p:cNvPr id="24" name="TextBox 23"/>
          <p:cNvSpPr txBox="1"/>
          <p:nvPr/>
        </p:nvSpPr>
        <p:spPr>
          <a:xfrm>
            <a:off x="530352" y="3849624"/>
            <a:ext cx="2743200" cy="201168"/>
          </a:xfrm>
          <a:prstGeom prst="rect">
            <a:avLst/>
          </a:prstGeom>
          <a:noFill/>
        </p:spPr>
        <p:txBody>
          <a:bodyPr wrap="square">
            <a:spAutoFit/>
          </a:bodyPr>
          <a:lstStyle/>
          <a:p>
            <a:pPr algn="l"/>
            <a:r>
              <a:rPr sz="800" b="0" i="0">
                <a:solidFill>
                  <a:srgbClr val="3D4D6A"/>
                </a:solidFill>
              </a:rPr>
              <a:t>Source→vault lineage</a:t>
            </a:r>
          </a:p>
        </p:txBody>
      </p:sp>
      <p:sp>
        <p:nvSpPr>
          <p:cNvPr id="25" name="Rounded Rectangle 24"/>
          <p:cNvSpPr/>
          <p:nvPr/>
        </p:nvSpPr>
        <p:spPr>
          <a:xfrm>
            <a:off x="411480" y="4187952"/>
            <a:ext cx="2926080" cy="502920"/>
          </a:xfrm>
          <a:prstGeom prst="roundRect">
            <a:avLst>
              <a:gd name="adj" fmla="val 5000"/>
            </a:avLst>
          </a:prstGeom>
          <a:solidFill>
            <a:srgbClr val="D6EAF8"/>
          </a:solidFill>
          <a:ln w="9525">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4215384"/>
            <a:ext cx="2743200" cy="228600"/>
          </a:xfrm>
          <a:prstGeom prst="rect">
            <a:avLst/>
          </a:prstGeom>
          <a:noFill/>
        </p:spPr>
        <p:txBody>
          <a:bodyPr wrap="square">
            <a:spAutoFit/>
          </a:bodyPr>
          <a:lstStyle/>
          <a:p>
            <a:pPr algn="l"/>
            <a:r>
              <a:rPr sz="900" b="1" i="0">
                <a:solidFill>
                  <a:srgbClr val="142B4C"/>
                </a:solidFill>
              </a:rPr>
              <a:t>DV_PROFILING_RESULTS</a:t>
            </a:r>
          </a:p>
        </p:txBody>
      </p:sp>
      <p:sp>
        <p:nvSpPr>
          <p:cNvPr id="27" name="TextBox 26"/>
          <p:cNvSpPr txBox="1"/>
          <p:nvPr/>
        </p:nvSpPr>
        <p:spPr>
          <a:xfrm>
            <a:off x="530352" y="4443984"/>
            <a:ext cx="2743200" cy="201168"/>
          </a:xfrm>
          <a:prstGeom prst="rect">
            <a:avLst/>
          </a:prstGeom>
          <a:noFill/>
        </p:spPr>
        <p:txBody>
          <a:bodyPr wrap="square">
            <a:spAutoFit/>
          </a:bodyPr>
          <a:lstStyle/>
          <a:p>
            <a:pPr algn="l"/>
            <a:r>
              <a:rPr sz="800" b="0" i="0">
                <a:solidFill>
                  <a:srgbClr val="3D4D6A"/>
                </a:solidFill>
              </a:rPr>
              <a:t>Change freq classification</a:t>
            </a:r>
          </a:p>
        </p:txBody>
      </p:sp>
      <p:sp>
        <p:nvSpPr>
          <p:cNvPr id="28" name="Rounded Rectangle 27"/>
          <p:cNvSpPr/>
          <p:nvPr/>
        </p:nvSpPr>
        <p:spPr>
          <a:xfrm>
            <a:off x="411480" y="4782312"/>
            <a:ext cx="2926080" cy="502920"/>
          </a:xfrm>
          <a:prstGeom prst="roundRect">
            <a:avLst>
              <a:gd name="adj" fmla="val 5000"/>
            </a:avLst>
          </a:prstGeom>
          <a:solidFill>
            <a:srgbClr val="D6EAF8"/>
          </a:solidFill>
          <a:ln w="9525">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4809744"/>
            <a:ext cx="2743200" cy="228600"/>
          </a:xfrm>
          <a:prstGeom prst="rect">
            <a:avLst/>
          </a:prstGeom>
          <a:noFill/>
        </p:spPr>
        <p:txBody>
          <a:bodyPr wrap="square">
            <a:spAutoFit/>
          </a:bodyPr>
          <a:lstStyle/>
          <a:p>
            <a:pPr algn="l"/>
            <a:r>
              <a:rPr sz="900" b="1" i="0">
                <a:solidFill>
                  <a:srgbClr val="142B4C"/>
                </a:solidFill>
              </a:rPr>
              <a:t>DV_ABBREVIATION</a:t>
            </a:r>
          </a:p>
        </p:txBody>
      </p:sp>
      <p:sp>
        <p:nvSpPr>
          <p:cNvPr id="30" name="TextBox 29"/>
          <p:cNvSpPr txBox="1"/>
          <p:nvPr/>
        </p:nvSpPr>
        <p:spPr>
          <a:xfrm>
            <a:off x="530352" y="5038344"/>
            <a:ext cx="2743200" cy="201168"/>
          </a:xfrm>
          <a:prstGeom prst="rect">
            <a:avLst/>
          </a:prstGeom>
          <a:noFill/>
        </p:spPr>
        <p:txBody>
          <a:bodyPr wrap="square">
            <a:spAutoFit/>
          </a:bodyPr>
          <a:lstStyle/>
          <a:p>
            <a:pPr algn="l"/>
            <a:r>
              <a:rPr sz="800" b="0" i="0">
                <a:solidFill>
                  <a:srgbClr val="3D4D6A"/>
                </a:solidFill>
              </a:rPr>
              <a:t>Logical name expansion</a:t>
            </a:r>
          </a:p>
        </p:txBody>
      </p:sp>
      <p:cxnSp>
        <p:nvCxnSpPr>
          <p:cNvPr id="31" name="Connector 30"/>
          <p:cNvCxnSpPr/>
          <p:nvPr/>
        </p:nvCxnSpPr>
        <p:spPr>
          <a:xfrm>
            <a:off x="3474720" y="3429000"/>
            <a:ext cx="640080" cy="0"/>
          </a:xfrm>
          <a:prstGeom prst="line">
            <a:avLst/>
          </a:prstGeom>
          <a:ln w="38100">
            <a:solidFill>
              <a:srgbClr val="198A5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10128" y="3493008"/>
            <a:ext cx="1097280" cy="365760"/>
          </a:xfrm>
          <a:prstGeom prst="rect">
            <a:avLst/>
          </a:prstGeom>
          <a:noFill/>
        </p:spPr>
        <p:txBody>
          <a:bodyPr wrap="square">
            <a:spAutoFit/>
          </a:bodyPr>
          <a:lstStyle/>
          <a:p>
            <a:pPr algn="ctr"/>
            <a:r>
              <a:rPr sz="850" b="1" i="0">
                <a:solidFill>
                  <a:srgbClr val="198A55"/>
                </a:solidFill>
              </a:rPr>
              <a:t>APPROVED
entities only</a:t>
            </a:r>
          </a:p>
        </p:txBody>
      </p:sp>
      <p:sp>
        <p:nvSpPr>
          <p:cNvPr id="33" name="Rounded Rectangle 32"/>
          <p:cNvSpPr/>
          <p:nvPr/>
        </p:nvSpPr>
        <p:spPr>
          <a:xfrm>
            <a:off x="4160520" y="2377440"/>
            <a:ext cx="2468880" cy="2103120"/>
          </a:xfrm>
          <a:prstGeom prst="roundRect">
            <a:avLst>
              <a:gd name="adj" fmla="val 5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60520" y="2423160"/>
            <a:ext cx="2468880" cy="1965960"/>
          </a:xfrm>
          <a:prstGeom prst="rect">
            <a:avLst/>
          </a:prstGeom>
          <a:noFill/>
        </p:spPr>
        <p:txBody>
          <a:bodyPr wrap="square">
            <a:spAutoFit/>
          </a:bodyPr>
          <a:lstStyle/>
          <a:p>
            <a:pPr algn="ctr"/>
            <a:r>
              <a:rPr sz="1200" b="1" i="0">
                <a:solidFill>
                  <a:srgbClr val="FFFFFF"/>
                </a:solidFill>
              </a:rPr>
              <a:t>dbt
Model
Generator
(Streamlit
Phase 4)</a:t>
            </a:r>
          </a:p>
        </p:txBody>
      </p:sp>
      <p:cxnSp>
        <p:nvCxnSpPr>
          <p:cNvPr id="35" name="Connector 34"/>
          <p:cNvCxnSpPr/>
          <p:nvPr/>
        </p:nvCxnSpPr>
        <p:spPr>
          <a:xfrm>
            <a:off x="6629400" y="3429000"/>
            <a:ext cx="457200" cy="0"/>
          </a:xfrm>
          <a:prstGeom prst="line">
            <a:avLst/>
          </a:prstGeom>
          <a:ln w="38100">
            <a:solidFill>
              <a:srgbClr val="198A5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132320" y="1188720"/>
            <a:ext cx="2377440" cy="2331720"/>
          </a:xfrm>
          <a:prstGeom prst="roundRect">
            <a:avLst>
              <a:gd name="adj" fmla="val 5000"/>
            </a:avLst>
          </a:prstGeom>
          <a:solidFill>
            <a:srgbClr val="FFFFFF"/>
          </a:solidFill>
          <a:ln w="19050">
            <a:solidFill>
              <a:srgbClr val="0D8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132320" y="1188720"/>
            <a:ext cx="2377440" cy="438912"/>
          </a:xfrm>
          <a:prstGeom prst="roundRect">
            <a:avLst>
              <a:gd name="adj" fmla="val 4000"/>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23759" y="1234440"/>
            <a:ext cx="2194560" cy="347472"/>
          </a:xfrm>
          <a:prstGeom prst="rect">
            <a:avLst/>
          </a:prstGeom>
          <a:noFill/>
        </p:spPr>
        <p:txBody>
          <a:bodyPr wrap="square">
            <a:spAutoFit/>
          </a:bodyPr>
          <a:lstStyle/>
          <a:p>
            <a:pPr algn="l"/>
            <a:r>
              <a:rPr sz="850" b="1" i="0">
                <a:solidFill>
                  <a:srgbClr val="FFFFFF"/>
                </a:solidFill>
              </a:rPr>
              <a:t>stg_&lt;source&gt;__&lt;table&gt;.sql</a:t>
            </a:r>
          </a:p>
        </p:txBody>
      </p:sp>
      <p:sp>
        <p:nvSpPr>
          <p:cNvPr id="39" name="TextBox 38"/>
          <p:cNvSpPr txBox="1"/>
          <p:nvPr/>
        </p:nvSpPr>
        <p:spPr>
          <a:xfrm>
            <a:off x="7223759" y="1700784"/>
            <a:ext cx="2194560" cy="1719072"/>
          </a:xfrm>
          <a:prstGeom prst="rect">
            <a:avLst/>
          </a:prstGeom>
          <a:noFill/>
        </p:spPr>
        <p:txBody>
          <a:bodyPr wrap="square">
            <a:spAutoFit/>
          </a:bodyPr>
          <a:lstStyle/>
          <a:p>
            <a:pPr algn="l"/>
            <a:r>
              <a:rPr sz="800" b="0" i="0">
                <a:solidFill>
                  <a:srgbClr val="3D4D6A"/>
                </a:solidFill>
              </a:rPr>
              <a:t>Staging model
• Cast columns to correct types
• Apply UPPER(TRIM) to BK columns
• Compute all hash keys (SHA2_BINARY)
• Add REC_SRC constant, BATCH_ID
• Drive from DV_SOURCE_MAPPING</a:t>
            </a:r>
          </a:p>
        </p:txBody>
      </p:sp>
      <p:sp>
        <p:nvSpPr>
          <p:cNvPr id="40" name="Rounded Rectangle 39"/>
          <p:cNvSpPr/>
          <p:nvPr/>
        </p:nvSpPr>
        <p:spPr>
          <a:xfrm>
            <a:off x="9555480" y="1188720"/>
            <a:ext cx="2377440" cy="2331720"/>
          </a:xfrm>
          <a:prstGeom prst="roundRect">
            <a:avLst>
              <a:gd name="adj" fmla="val 5000"/>
            </a:avLst>
          </a:prstGeom>
          <a:solidFill>
            <a:srgbClr val="FFFFFF"/>
          </a:solidFill>
          <a:ln w="19050">
            <a:solidFill>
              <a:srgbClr val="1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55480" y="1188720"/>
            <a:ext cx="2377440" cy="438912"/>
          </a:xfrm>
          <a:prstGeom prst="roundRect">
            <a:avLst>
              <a:gd name="adj" fmla="val 4000"/>
            </a:avLst>
          </a:prstGeom>
          <a:solidFill>
            <a:srgbClr val="1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46919" y="1234440"/>
            <a:ext cx="2194560" cy="347472"/>
          </a:xfrm>
          <a:prstGeom prst="rect">
            <a:avLst/>
          </a:prstGeom>
          <a:noFill/>
        </p:spPr>
        <p:txBody>
          <a:bodyPr wrap="square">
            <a:spAutoFit/>
          </a:bodyPr>
          <a:lstStyle/>
          <a:p>
            <a:pPr algn="l"/>
            <a:r>
              <a:rPr sz="850" b="1" i="0">
                <a:solidFill>
                  <a:srgbClr val="FFFFFF"/>
                </a:solidFill>
              </a:rPr>
              <a:t>hub_&lt;noun&gt;.sql</a:t>
            </a:r>
          </a:p>
        </p:txBody>
      </p:sp>
      <p:sp>
        <p:nvSpPr>
          <p:cNvPr id="43" name="TextBox 42"/>
          <p:cNvSpPr txBox="1"/>
          <p:nvPr/>
        </p:nvSpPr>
        <p:spPr>
          <a:xfrm>
            <a:off x="9646919" y="1700784"/>
            <a:ext cx="2194560" cy="1719072"/>
          </a:xfrm>
          <a:prstGeom prst="rect">
            <a:avLst/>
          </a:prstGeom>
          <a:noFill/>
        </p:spPr>
        <p:txBody>
          <a:bodyPr wrap="square">
            <a:spAutoFit/>
          </a:bodyPr>
          <a:lstStyle/>
          <a:p>
            <a:pPr algn="l"/>
            <a:r>
              <a:rPr sz="800" b="0" i="0">
                <a:solidFill>
                  <a:srgbClr val="3D4D6A"/>
                </a:solidFill>
              </a:rPr>
              <a:t>Hub model
• INSERT-IF-NOT-EXISTS pattern
• Driven by DV_ENTITY + DV_HASH_DEFINITION
• One hub model per approved HUB entity
• Primary key = &lt;noun&gt;_HK (BINARY 32)</a:t>
            </a:r>
          </a:p>
        </p:txBody>
      </p:sp>
      <p:sp>
        <p:nvSpPr>
          <p:cNvPr id="44" name="Rounded Rectangle 43"/>
          <p:cNvSpPr/>
          <p:nvPr/>
        </p:nvSpPr>
        <p:spPr>
          <a:xfrm>
            <a:off x="7132320" y="3703320"/>
            <a:ext cx="2377440" cy="2331720"/>
          </a:xfrm>
          <a:prstGeom prst="roundRect">
            <a:avLst>
              <a:gd name="adj" fmla="val 5000"/>
            </a:avLst>
          </a:prstGeom>
          <a:solidFill>
            <a:srgbClr val="FFFFFF"/>
          </a:solidFill>
          <a:ln w="19050">
            <a:solidFill>
              <a:srgbClr val="E36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132320" y="3703320"/>
            <a:ext cx="2377440" cy="438912"/>
          </a:xfrm>
          <a:prstGeom prst="roundRect">
            <a:avLst>
              <a:gd name="adj" fmla="val 4000"/>
            </a:avLst>
          </a:prstGeom>
          <a:solidFill>
            <a:srgbClr val="E36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23759" y="3749039"/>
            <a:ext cx="2194560" cy="347472"/>
          </a:xfrm>
          <a:prstGeom prst="rect">
            <a:avLst/>
          </a:prstGeom>
          <a:noFill/>
        </p:spPr>
        <p:txBody>
          <a:bodyPr wrap="square">
            <a:spAutoFit/>
          </a:bodyPr>
          <a:lstStyle/>
          <a:p>
            <a:pPr algn="l"/>
            <a:r>
              <a:rPr sz="850" b="1" i="0">
                <a:solidFill>
                  <a:srgbClr val="FFFFFF"/>
                </a:solidFill>
              </a:rPr>
              <a:t>sat_&lt;src&gt;_&lt;noun&gt;_&lt;desc&gt;.sql</a:t>
            </a:r>
          </a:p>
        </p:txBody>
      </p:sp>
      <p:sp>
        <p:nvSpPr>
          <p:cNvPr id="47" name="TextBox 46"/>
          <p:cNvSpPr txBox="1"/>
          <p:nvPr/>
        </p:nvSpPr>
        <p:spPr>
          <a:xfrm>
            <a:off x="7223759" y="4215383"/>
            <a:ext cx="2194560" cy="1719072"/>
          </a:xfrm>
          <a:prstGeom prst="rect">
            <a:avLst/>
          </a:prstGeom>
          <a:noFill/>
        </p:spPr>
        <p:txBody>
          <a:bodyPr wrap="square">
            <a:spAutoFit/>
          </a:bodyPr>
          <a:lstStyle/>
          <a:p>
            <a:pPr algn="l"/>
            <a:r>
              <a:rPr sz="800" b="0" i="0">
                <a:solidFill>
                  <a:srgbClr val="3D4D6A"/>
                </a:solidFill>
              </a:rPr>
              <a:t>Satellite model
• HASHDIFF change detection
• Insert new record when HASHDIFF changes
• Split models for FAST vs SLOW satellites
• Column list from DV_ENTITY_COLUMN (ATTR)</a:t>
            </a:r>
          </a:p>
        </p:txBody>
      </p:sp>
      <p:sp>
        <p:nvSpPr>
          <p:cNvPr id="48" name="Rounded Rectangle 47"/>
          <p:cNvSpPr/>
          <p:nvPr/>
        </p:nvSpPr>
        <p:spPr>
          <a:xfrm>
            <a:off x="9555480" y="3703320"/>
            <a:ext cx="2377440" cy="2331720"/>
          </a:xfrm>
          <a:prstGeom prst="roundRect">
            <a:avLst>
              <a:gd name="adj" fmla="val 5000"/>
            </a:avLst>
          </a:prstGeom>
          <a:solidFill>
            <a:srgbClr val="FFFFFF"/>
          </a:solidFill>
          <a:ln w="1905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555480" y="3703320"/>
            <a:ext cx="2377440" cy="438912"/>
          </a:xfrm>
          <a:prstGeom prst="roundRect">
            <a:avLst>
              <a:gd name="adj" fmla="val 4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46919" y="3749039"/>
            <a:ext cx="2194560" cy="347472"/>
          </a:xfrm>
          <a:prstGeom prst="rect">
            <a:avLst/>
          </a:prstGeom>
          <a:noFill/>
        </p:spPr>
        <p:txBody>
          <a:bodyPr wrap="square">
            <a:spAutoFit/>
          </a:bodyPr>
          <a:lstStyle/>
          <a:p>
            <a:pPr algn="l"/>
            <a:r>
              <a:rPr sz="850" b="1" i="0">
                <a:solidFill>
                  <a:srgbClr val="FFFFFF"/>
                </a:solidFill>
              </a:rPr>
              <a:t>lnk_&lt;n1&gt;_&lt;n2&gt;.sql</a:t>
            </a:r>
          </a:p>
        </p:txBody>
      </p:sp>
      <p:sp>
        <p:nvSpPr>
          <p:cNvPr id="51" name="TextBox 50"/>
          <p:cNvSpPr txBox="1"/>
          <p:nvPr/>
        </p:nvSpPr>
        <p:spPr>
          <a:xfrm>
            <a:off x="9646919" y="4215383"/>
            <a:ext cx="2194560" cy="1719072"/>
          </a:xfrm>
          <a:prstGeom prst="rect">
            <a:avLst/>
          </a:prstGeom>
          <a:noFill/>
        </p:spPr>
        <p:txBody>
          <a:bodyPr wrap="square">
            <a:spAutoFit/>
          </a:bodyPr>
          <a:lstStyle/>
          <a:p>
            <a:pPr algn="l"/>
            <a:r>
              <a:rPr sz="800" b="0" i="0">
                <a:solidFill>
                  <a:srgbClr val="3D4D6A"/>
                </a:solidFill>
              </a:rPr>
              <a:t>Link model
• Composite HK from participating hub HKs
• Alphabetical hub ordering enforced
• Degenerate keys handled as ATTR columns
• Source: DV_RELATIONSHIP for FK structure</a:t>
            </a:r>
          </a:p>
        </p:txBody>
      </p:sp>
      <p:sp>
        <p:nvSpPr>
          <p:cNvPr id="52" name="Rounded Rectangle 51"/>
          <p:cNvSpPr/>
          <p:nvPr/>
        </p:nvSpPr>
        <p:spPr>
          <a:xfrm>
            <a:off x="274320" y="5925312"/>
            <a:ext cx="11640312" cy="502920"/>
          </a:xfrm>
          <a:prstGeom prst="roundRect">
            <a:avLst>
              <a:gd name="adj" fmla="val 5000"/>
            </a:avLst>
          </a:prstGeom>
          <a:solidFill>
            <a:srgbClr val="E8F8F0"/>
          </a:solidFill>
          <a:ln w="1270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5961888"/>
            <a:ext cx="11247120" cy="420624"/>
          </a:xfrm>
          <a:prstGeom prst="rect">
            <a:avLst/>
          </a:prstGeom>
          <a:noFill/>
        </p:spPr>
        <p:txBody>
          <a:bodyPr wrap="square">
            <a:spAutoFit/>
          </a:bodyPr>
          <a:lstStyle/>
          <a:p>
            <a:pPr algn="l"/>
            <a:r>
              <a:rPr sz="950" b="0" i="0">
                <a:solidFill>
                  <a:srgbClr val="0A4D2F"/>
                </a:solidFill>
              </a:rPr>
              <a:t>📐  dbt models are generated as templated SQL using the APPROVED registry state. Hash definitions in DV_HASH_DEFINITION ensure bit-for-bit reproducibility across all environments. Change frequency classification (FAST/SLOW/STATIC from profiling) drives satellite splitting strategy.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0515600" cy="548640"/>
          </a:xfrm>
          <a:prstGeom prst="rect">
            <a:avLst/>
          </a:prstGeom>
          <a:noFill/>
        </p:spPr>
        <p:txBody>
          <a:bodyPr wrap="square">
            <a:spAutoFit/>
          </a:bodyPr>
          <a:lstStyle/>
          <a:p>
            <a:pPr algn="l"/>
            <a:r>
              <a:rPr sz="2400" b="1" i="0">
                <a:solidFill>
                  <a:srgbClr val="FFFFFF"/>
                </a:solidFill>
              </a:rPr>
              <a:t>Snowflake Native — Pros &amp; Cons</a:t>
            </a:r>
          </a:p>
        </p:txBody>
      </p:sp>
      <p:sp>
        <p:nvSpPr>
          <p:cNvPr id="5" name="TextBox 4"/>
          <p:cNvSpPr txBox="1"/>
          <p:nvPr/>
        </p:nvSpPr>
        <p:spPr>
          <a:xfrm>
            <a:off x="320040" y="621792"/>
            <a:ext cx="10515600" cy="320040"/>
          </a:xfrm>
          <a:prstGeom prst="rect">
            <a:avLst/>
          </a:prstGeom>
          <a:noFill/>
        </p:spPr>
        <p:txBody>
          <a:bodyPr wrap="square">
            <a:spAutoFit/>
          </a:bodyPr>
          <a:lstStyle/>
          <a:p>
            <a:pPr algn="l"/>
            <a:r>
              <a:rPr sz="1200" b="0" i="0">
                <a:solidFill>
                  <a:srgbClr val="A8C7E8"/>
                </a:solidFill>
              </a:rPr>
              <a:t>Building entirely inside Snowflake eliminates external tooling but introduces platform dependencies</a:t>
            </a:r>
          </a:p>
        </p:txBody>
      </p:sp>
      <p:sp>
        <p:nvSpPr>
          <p:cNvPr id="6" name="Rectangle 5"/>
          <p:cNvSpPr/>
          <p:nvPr/>
        </p:nvSpPr>
        <p:spPr>
          <a:xfrm>
            <a:off x="0" y="960120"/>
            <a:ext cx="12188952" cy="36576"/>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29400"/>
            <a:ext cx="12188952" cy="228600"/>
          </a:xfrm>
          <a:prstGeom prst="rect">
            <a:avLst/>
          </a:prstGeom>
          <a:solidFill>
            <a:srgbClr val="0D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9144000" cy="182880"/>
          </a:xfrm>
          <a:prstGeom prst="rect">
            <a:avLst/>
          </a:prstGeom>
          <a:noFill/>
        </p:spPr>
        <p:txBody>
          <a:bodyPr wrap="square">
            <a:spAutoFit/>
          </a:bodyPr>
          <a:lstStyle/>
          <a:p>
            <a:pPr algn="l"/>
            <a:r>
              <a:rPr sz="800" b="0" i="0">
                <a:solidFill>
                  <a:srgbClr val="809ABF"/>
                </a:solidFill>
              </a:rPr>
              <a:t>NEXUS DV2.0  |  AI-Assisted Data Vault Automation  |  Confidential</a:t>
            </a:r>
          </a:p>
        </p:txBody>
      </p:sp>
      <p:sp>
        <p:nvSpPr>
          <p:cNvPr id="9" name="TextBox 8"/>
          <p:cNvSpPr txBox="1"/>
          <p:nvPr/>
        </p:nvSpPr>
        <p:spPr>
          <a:xfrm>
            <a:off x="11704320" y="6647688"/>
            <a:ext cx="365760" cy="182880"/>
          </a:xfrm>
          <a:prstGeom prst="rect">
            <a:avLst/>
          </a:prstGeom>
          <a:noFill/>
        </p:spPr>
        <p:txBody>
          <a:bodyPr wrap="square">
            <a:spAutoFit/>
          </a:bodyPr>
          <a:lstStyle/>
          <a:p>
            <a:pPr algn="r"/>
            <a:r>
              <a:rPr sz="800" b="0" i="0">
                <a:solidFill>
                  <a:srgbClr val="809ABF"/>
                </a:solidFill>
              </a:rPr>
              <a:t>9</a:t>
            </a:r>
          </a:p>
        </p:txBody>
      </p:sp>
      <p:sp>
        <p:nvSpPr>
          <p:cNvPr id="10" name="Rectangle 9"/>
          <p:cNvSpPr/>
          <p:nvPr/>
        </p:nvSpPr>
        <p:spPr>
          <a:xfrm>
            <a:off x="5989320" y="1051560"/>
            <a:ext cx="36576" cy="5440680"/>
          </a:xfrm>
          <a:prstGeom prst="rect">
            <a:avLst/>
          </a:prstGeom>
          <a:solidFill>
            <a:srgbClr val="CC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28600" y="1078992"/>
            <a:ext cx="5623560" cy="411480"/>
          </a:xfrm>
          <a:prstGeom prst="roundRect">
            <a:avLst>
              <a:gd name="adj" fmla="val 5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115568"/>
            <a:ext cx="5394960" cy="329184"/>
          </a:xfrm>
          <a:prstGeom prst="rect">
            <a:avLst/>
          </a:prstGeom>
          <a:noFill/>
        </p:spPr>
        <p:txBody>
          <a:bodyPr wrap="square">
            <a:spAutoFit/>
          </a:bodyPr>
          <a:lstStyle/>
          <a:p>
            <a:pPr algn="l"/>
            <a:r>
              <a:rPr sz="1200" b="1" i="0">
                <a:solidFill>
                  <a:srgbClr val="FFFFFF"/>
                </a:solidFill>
              </a:rPr>
              <a:t>✅  Advantages — Being Snowflake Native</a:t>
            </a:r>
          </a:p>
        </p:txBody>
      </p:sp>
      <p:sp>
        <p:nvSpPr>
          <p:cNvPr id="13" name="Rounded Rectangle 12"/>
          <p:cNvSpPr/>
          <p:nvPr/>
        </p:nvSpPr>
        <p:spPr>
          <a:xfrm>
            <a:off x="228600" y="1572768"/>
            <a:ext cx="5623560" cy="612648"/>
          </a:xfrm>
          <a:prstGeom prst="roundRect">
            <a:avLst>
              <a:gd name="adj" fmla="val 5000"/>
            </a:avLst>
          </a:prstGeom>
          <a:solidFill>
            <a:srgbClr val="FFFFFF"/>
          </a:solidFill>
          <a:ln w="9525">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1572768"/>
            <a:ext cx="109728" cy="612648"/>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600200"/>
            <a:ext cx="5257800" cy="228600"/>
          </a:xfrm>
          <a:prstGeom prst="rect">
            <a:avLst/>
          </a:prstGeom>
          <a:noFill/>
        </p:spPr>
        <p:txBody>
          <a:bodyPr wrap="square">
            <a:spAutoFit/>
          </a:bodyPr>
          <a:lstStyle/>
          <a:p>
            <a:pPr algn="l"/>
            <a:r>
              <a:rPr sz="950" b="1" i="0">
                <a:solidFill>
                  <a:srgbClr val="198A55"/>
                </a:solidFill>
              </a:rPr>
              <a:t>Zero External Infrastructure</a:t>
            </a:r>
          </a:p>
        </p:txBody>
      </p:sp>
      <p:sp>
        <p:nvSpPr>
          <p:cNvPr id="16" name="TextBox 15"/>
          <p:cNvSpPr txBox="1"/>
          <p:nvPr/>
        </p:nvSpPr>
        <p:spPr>
          <a:xfrm>
            <a:off x="429768" y="1828800"/>
            <a:ext cx="5257800" cy="310896"/>
          </a:xfrm>
          <a:prstGeom prst="rect">
            <a:avLst/>
          </a:prstGeom>
          <a:noFill/>
        </p:spPr>
        <p:txBody>
          <a:bodyPr wrap="square">
            <a:spAutoFit/>
          </a:bodyPr>
          <a:lstStyle/>
          <a:p>
            <a:pPr algn="l"/>
            <a:r>
              <a:rPr sz="800" b="0" i="0">
                <a:solidFill>
                  <a:srgbClr val="3D4D6A"/>
                </a:solidFill>
              </a:rPr>
              <a:t>No separate AI service, orchestration engine, or UI deployment. Streamlit in Snowflake, Cortex AI_COMPLETE, and Snowpark SPs are all natively provisioned. No API keys, no VPCs, no dependency management.</a:t>
            </a:r>
          </a:p>
        </p:txBody>
      </p:sp>
      <p:sp>
        <p:nvSpPr>
          <p:cNvPr id="17" name="Rounded Rectangle 16"/>
          <p:cNvSpPr/>
          <p:nvPr/>
        </p:nvSpPr>
        <p:spPr>
          <a:xfrm>
            <a:off x="228600" y="2231136"/>
            <a:ext cx="5623560" cy="612648"/>
          </a:xfrm>
          <a:prstGeom prst="roundRect">
            <a:avLst>
              <a:gd name="adj" fmla="val 5000"/>
            </a:avLst>
          </a:prstGeom>
          <a:solidFill>
            <a:srgbClr val="FFFFFF"/>
          </a:solidFill>
          <a:ln w="9525">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 y="2231136"/>
            <a:ext cx="109728" cy="612648"/>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2258568"/>
            <a:ext cx="5257800" cy="228600"/>
          </a:xfrm>
          <a:prstGeom prst="rect">
            <a:avLst/>
          </a:prstGeom>
          <a:noFill/>
        </p:spPr>
        <p:txBody>
          <a:bodyPr wrap="square">
            <a:spAutoFit/>
          </a:bodyPr>
          <a:lstStyle/>
          <a:p>
            <a:pPr algn="l"/>
            <a:r>
              <a:rPr sz="950" b="1" i="0">
                <a:solidFill>
                  <a:srgbClr val="198A55"/>
                </a:solidFill>
              </a:rPr>
              <a:t>Data Never Leaves the Platform</a:t>
            </a:r>
          </a:p>
        </p:txBody>
      </p:sp>
      <p:sp>
        <p:nvSpPr>
          <p:cNvPr id="20" name="TextBox 19"/>
          <p:cNvSpPr txBox="1"/>
          <p:nvPr/>
        </p:nvSpPr>
        <p:spPr>
          <a:xfrm>
            <a:off x="429768" y="2487168"/>
            <a:ext cx="5257800" cy="310896"/>
          </a:xfrm>
          <a:prstGeom prst="rect">
            <a:avLst/>
          </a:prstGeom>
          <a:noFill/>
        </p:spPr>
        <p:txBody>
          <a:bodyPr wrap="square">
            <a:spAutoFit/>
          </a:bodyPr>
          <a:lstStyle/>
          <a:p>
            <a:pPr algn="l"/>
            <a:r>
              <a:rPr sz="800" b="0" i="0">
                <a:solidFill>
                  <a:srgbClr val="3D4D6A"/>
                </a:solidFill>
              </a:rPr>
              <a:t>Source data, AI prompts, and responses all stay inside Snowflake's trust boundary. Critical for banking — PII and confidential schema details are not transmitted to external services.</a:t>
            </a:r>
          </a:p>
        </p:txBody>
      </p:sp>
      <p:sp>
        <p:nvSpPr>
          <p:cNvPr id="21" name="Rounded Rectangle 20"/>
          <p:cNvSpPr/>
          <p:nvPr/>
        </p:nvSpPr>
        <p:spPr>
          <a:xfrm>
            <a:off x="228600" y="2889504"/>
            <a:ext cx="5623560" cy="612648"/>
          </a:xfrm>
          <a:prstGeom prst="roundRect">
            <a:avLst>
              <a:gd name="adj" fmla="val 5000"/>
            </a:avLst>
          </a:prstGeom>
          <a:solidFill>
            <a:srgbClr val="FFFFFF"/>
          </a:solidFill>
          <a:ln w="9525">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8600" y="2889504"/>
            <a:ext cx="109728" cy="612648"/>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2916936"/>
            <a:ext cx="5257800" cy="228600"/>
          </a:xfrm>
          <a:prstGeom prst="rect">
            <a:avLst/>
          </a:prstGeom>
          <a:noFill/>
        </p:spPr>
        <p:txBody>
          <a:bodyPr wrap="square">
            <a:spAutoFit/>
          </a:bodyPr>
          <a:lstStyle/>
          <a:p>
            <a:pPr algn="l"/>
            <a:r>
              <a:rPr sz="950" b="1" i="0">
                <a:solidFill>
                  <a:srgbClr val="198A55"/>
                </a:solidFill>
              </a:rPr>
              <a:t>Native RBAC &amp; Governance</a:t>
            </a:r>
          </a:p>
        </p:txBody>
      </p:sp>
      <p:sp>
        <p:nvSpPr>
          <p:cNvPr id="24" name="TextBox 23"/>
          <p:cNvSpPr txBox="1"/>
          <p:nvPr/>
        </p:nvSpPr>
        <p:spPr>
          <a:xfrm>
            <a:off x="429768" y="3145536"/>
            <a:ext cx="5257800" cy="310896"/>
          </a:xfrm>
          <a:prstGeom prst="rect">
            <a:avLst/>
          </a:prstGeom>
          <a:noFill/>
        </p:spPr>
        <p:txBody>
          <a:bodyPr wrap="square">
            <a:spAutoFit/>
          </a:bodyPr>
          <a:lstStyle/>
          <a:p>
            <a:pPr algn="l"/>
            <a:r>
              <a:rPr sz="800" b="0" i="0">
                <a:solidFill>
                  <a:srgbClr val="3D4D6A"/>
                </a:solidFill>
              </a:rPr>
              <a:t>Snowflake roles control exactly who can call which stored procedure, see which registry tables, or approve proposals. No separate IAM layer.</a:t>
            </a:r>
          </a:p>
        </p:txBody>
      </p:sp>
      <p:sp>
        <p:nvSpPr>
          <p:cNvPr id="25" name="Rounded Rectangle 24"/>
          <p:cNvSpPr/>
          <p:nvPr/>
        </p:nvSpPr>
        <p:spPr>
          <a:xfrm>
            <a:off x="228600" y="3547872"/>
            <a:ext cx="5623560" cy="612648"/>
          </a:xfrm>
          <a:prstGeom prst="roundRect">
            <a:avLst>
              <a:gd name="adj" fmla="val 5000"/>
            </a:avLst>
          </a:prstGeom>
          <a:solidFill>
            <a:srgbClr val="FFFFFF"/>
          </a:solidFill>
          <a:ln w="9525">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 y="3547872"/>
            <a:ext cx="109728" cy="612648"/>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 y="3575303"/>
            <a:ext cx="5257800" cy="228600"/>
          </a:xfrm>
          <a:prstGeom prst="rect">
            <a:avLst/>
          </a:prstGeom>
          <a:noFill/>
        </p:spPr>
        <p:txBody>
          <a:bodyPr wrap="square">
            <a:spAutoFit/>
          </a:bodyPr>
          <a:lstStyle/>
          <a:p>
            <a:pPr algn="l"/>
            <a:r>
              <a:rPr sz="950" b="1" i="0">
                <a:solidFill>
                  <a:srgbClr val="198A55"/>
                </a:solidFill>
              </a:rPr>
              <a:t>VARIANT for AI Responses</a:t>
            </a:r>
          </a:p>
        </p:txBody>
      </p:sp>
      <p:sp>
        <p:nvSpPr>
          <p:cNvPr id="28" name="TextBox 27"/>
          <p:cNvSpPr txBox="1"/>
          <p:nvPr/>
        </p:nvSpPr>
        <p:spPr>
          <a:xfrm>
            <a:off x="429768" y="3803904"/>
            <a:ext cx="5257800" cy="310896"/>
          </a:xfrm>
          <a:prstGeom prst="rect">
            <a:avLst/>
          </a:prstGeom>
          <a:noFill/>
        </p:spPr>
        <p:txBody>
          <a:bodyPr wrap="square">
            <a:spAutoFit/>
          </a:bodyPr>
          <a:lstStyle/>
          <a:p>
            <a:pPr algn="l"/>
            <a:r>
              <a:rPr sz="800" b="0" i="0">
                <a:solidFill>
                  <a:srgbClr val="3D4D6A"/>
                </a:solidFill>
              </a:rPr>
              <a:t>Snowflake's VARIANT type stores AI-generated JSON natively. Proposals can be queried with dot-notation SQL — no custom serialization.</a:t>
            </a:r>
          </a:p>
        </p:txBody>
      </p:sp>
      <p:sp>
        <p:nvSpPr>
          <p:cNvPr id="29" name="Rounded Rectangle 28"/>
          <p:cNvSpPr/>
          <p:nvPr/>
        </p:nvSpPr>
        <p:spPr>
          <a:xfrm>
            <a:off x="228600" y="4206240"/>
            <a:ext cx="5623560" cy="612648"/>
          </a:xfrm>
          <a:prstGeom prst="roundRect">
            <a:avLst>
              <a:gd name="adj" fmla="val 5000"/>
            </a:avLst>
          </a:prstGeom>
          <a:solidFill>
            <a:srgbClr val="FFFFFF"/>
          </a:solidFill>
          <a:ln w="9525">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28600" y="4206240"/>
            <a:ext cx="109728" cy="612648"/>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768" y="4233672"/>
            <a:ext cx="5257800" cy="228600"/>
          </a:xfrm>
          <a:prstGeom prst="rect">
            <a:avLst/>
          </a:prstGeom>
          <a:noFill/>
        </p:spPr>
        <p:txBody>
          <a:bodyPr wrap="square">
            <a:spAutoFit/>
          </a:bodyPr>
          <a:lstStyle/>
          <a:p>
            <a:pPr algn="l"/>
            <a:r>
              <a:rPr sz="950" b="1" i="0">
                <a:solidFill>
                  <a:srgbClr val="198A55"/>
                </a:solidFill>
              </a:rPr>
              <a:t>Unified Billing</a:t>
            </a:r>
          </a:p>
        </p:txBody>
      </p:sp>
      <p:sp>
        <p:nvSpPr>
          <p:cNvPr id="32" name="TextBox 31"/>
          <p:cNvSpPr txBox="1"/>
          <p:nvPr/>
        </p:nvSpPr>
        <p:spPr>
          <a:xfrm>
            <a:off x="429768" y="4462272"/>
            <a:ext cx="5257800" cy="310896"/>
          </a:xfrm>
          <a:prstGeom prst="rect">
            <a:avLst/>
          </a:prstGeom>
          <a:noFill/>
        </p:spPr>
        <p:txBody>
          <a:bodyPr wrap="square">
            <a:spAutoFit/>
          </a:bodyPr>
          <a:lstStyle/>
          <a:p>
            <a:pPr algn="l"/>
            <a:r>
              <a:rPr sz="800" b="0" i="0">
                <a:solidFill>
                  <a:srgbClr val="3D4D6A"/>
                </a:solidFill>
              </a:rPr>
              <a:t>Compute credits cover profiling, AI calls, and UI rendering. No separate AI vendor invoice or separate BI tool subscription.</a:t>
            </a:r>
          </a:p>
        </p:txBody>
      </p:sp>
      <p:sp>
        <p:nvSpPr>
          <p:cNvPr id="33" name="Rounded Rectangle 32"/>
          <p:cNvSpPr/>
          <p:nvPr/>
        </p:nvSpPr>
        <p:spPr>
          <a:xfrm>
            <a:off x="228600" y="4864607"/>
            <a:ext cx="5623560" cy="612648"/>
          </a:xfrm>
          <a:prstGeom prst="roundRect">
            <a:avLst>
              <a:gd name="adj" fmla="val 5000"/>
            </a:avLst>
          </a:prstGeom>
          <a:solidFill>
            <a:srgbClr val="FFFFFF"/>
          </a:solidFill>
          <a:ln w="9525">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28600" y="4864607"/>
            <a:ext cx="109728" cy="612648"/>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768" y="4892040"/>
            <a:ext cx="5257800" cy="228600"/>
          </a:xfrm>
          <a:prstGeom prst="rect">
            <a:avLst/>
          </a:prstGeom>
          <a:noFill/>
        </p:spPr>
        <p:txBody>
          <a:bodyPr wrap="square">
            <a:spAutoFit/>
          </a:bodyPr>
          <a:lstStyle/>
          <a:p>
            <a:pPr algn="l"/>
            <a:r>
              <a:rPr sz="950" b="1" i="0">
                <a:solidFill>
                  <a:srgbClr val="198A55"/>
                </a:solidFill>
              </a:rPr>
              <a:t>Micro-Partition Pruning</a:t>
            </a:r>
          </a:p>
        </p:txBody>
      </p:sp>
      <p:sp>
        <p:nvSpPr>
          <p:cNvPr id="36" name="TextBox 35"/>
          <p:cNvSpPr txBox="1"/>
          <p:nvPr/>
        </p:nvSpPr>
        <p:spPr>
          <a:xfrm>
            <a:off x="429768" y="5120640"/>
            <a:ext cx="5257800" cy="310896"/>
          </a:xfrm>
          <a:prstGeom prst="rect">
            <a:avLst/>
          </a:prstGeom>
          <a:noFill/>
        </p:spPr>
        <p:txBody>
          <a:bodyPr wrap="square">
            <a:spAutoFit/>
          </a:bodyPr>
          <a:lstStyle/>
          <a:p>
            <a:pPr algn="l"/>
            <a:r>
              <a:rPr sz="800" b="0" i="0">
                <a:solidFill>
                  <a:srgbClr val="3D4D6A"/>
                </a:solidFill>
              </a:rPr>
              <a:t>Query performance on registry tables scales automatically. No custom indexes required — Snowflake's micro-partition pruning handles predicate pushdown on SOURCE_SYSTEM, STATUS, and date columns.</a:t>
            </a:r>
          </a:p>
        </p:txBody>
      </p:sp>
      <p:sp>
        <p:nvSpPr>
          <p:cNvPr id="37" name="Rounded Rectangle 36"/>
          <p:cNvSpPr/>
          <p:nvPr/>
        </p:nvSpPr>
        <p:spPr>
          <a:xfrm>
            <a:off x="228600" y="5522976"/>
            <a:ext cx="5623560" cy="612648"/>
          </a:xfrm>
          <a:prstGeom prst="roundRect">
            <a:avLst>
              <a:gd name="adj" fmla="val 5000"/>
            </a:avLst>
          </a:prstGeom>
          <a:solidFill>
            <a:srgbClr val="FFFFFF"/>
          </a:solidFill>
          <a:ln w="9525">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28600" y="5522976"/>
            <a:ext cx="109728" cy="612648"/>
          </a:xfrm>
          <a:prstGeom prst="rect">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8" y="5550408"/>
            <a:ext cx="5257800" cy="228600"/>
          </a:xfrm>
          <a:prstGeom prst="rect">
            <a:avLst/>
          </a:prstGeom>
          <a:noFill/>
        </p:spPr>
        <p:txBody>
          <a:bodyPr wrap="square">
            <a:spAutoFit/>
          </a:bodyPr>
          <a:lstStyle/>
          <a:p>
            <a:pPr algn="l"/>
            <a:r>
              <a:rPr sz="950" b="1" i="0">
                <a:solidFill>
                  <a:srgbClr val="198A55"/>
                </a:solidFill>
              </a:rPr>
              <a:t>Cortex Model Access</a:t>
            </a:r>
          </a:p>
        </p:txBody>
      </p:sp>
      <p:sp>
        <p:nvSpPr>
          <p:cNvPr id="40" name="TextBox 39"/>
          <p:cNvSpPr txBox="1"/>
          <p:nvPr/>
        </p:nvSpPr>
        <p:spPr>
          <a:xfrm>
            <a:off x="429768" y="5779008"/>
            <a:ext cx="5257800" cy="310896"/>
          </a:xfrm>
          <a:prstGeom prst="rect">
            <a:avLst/>
          </a:prstGeom>
          <a:noFill/>
        </p:spPr>
        <p:txBody>
          <a:bodyPr wrap="square">
            <a:spAutoFit/>
          </a:bodyPr>
          <a:lstStyle/>
          <a:p>
            <a:pPr algn="l"/>
            <a:r>
              <a:rPr sz="800" b="0" i="0">
                <a:solidFill>
                  <a:srgbClr val="3D4D6A"/>
                </a:solidFill>
              </a:rPr>
              <a:t>New Cortex model versions (Claude Opus 4, 4.5, 4.6…) become available automatically — just change the model parameter string in the SP, no infrastructure change needed.</a:t>
            </a:r>
          </a:p>
        </p:txBody>
      </p:sp>
      <p:sp>
        <p:nvSpPr>
          <p:cNvPr id="41" name="Rounded Rectangle 40"/>
          <p:cNvSpPr/>
          <p:nvPr/>
        </p:nvSpPr>
        <p:spPr>
          <a:xfrm>
            <a:off x="6080760" y="1078992"/>
            <a:ext cx="5879592" cy="411480"/>
          </a:xfrm>
          <a:prstGeom prst="roundRect">
            <a:avLst>
              <a:gd name="adj" fmla="val 5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115568"/>
            <a:ext cx="5623560" cy="329184"/>
          </a:xfrm>
          <a:prstGeom prst="rect">
            <a:avLst/>
          </a:prstGeom>
          <a:noFill/>
        </p:spPr>
        <p:txBody>
          <a:bodyPr wrap="square">
            <a:spAutoFit/>
          </a:bodyPr>
          <a:lstStyle/>
          <a:p>
            <a:pPr algn="l"/>
            <a:r>
              <a:rPr sz="1200" b="1" i="0">
                <a:solidFill>
                  <a:srgbClr val="FFFFFF"/>
                </a:solidFill>
              </a:rPr>
              <a:t>⚠️  Constraints &amp; Considerations</a:t>
            </a:r>
          </a:p>
        </p:txBody>
      </p:sp>
      <p:sp>
        <p:nvSpPr>
          <p:cNvPr id="43" name="Rounded Rectangle 42"/>
          <p:cNvSpPr/>
          <p:nvPr/>
        </p:nvSpPr>
        <p:spPr>
          <a:xfrm>
            <a:off x="6080760" y="1572768"/>
            <a:ext cx="5879592" cy="612648"/>
          </a:xfrm>
          <a:prstGeom prst="roundRect">
            <a:avLst>
              <a:gd name="adj" fmla="val 5000"/>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080760" y="1572768"/>
            <a:ext cx="109728" cy="6126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1928" y="1600200"/>
            <a:ext cx="5532120" cy="228600"/>
          </a:xfrm>
          <a:prstGeom prst="rect">
            <a:avLst/>
          </a:prstGeom>
          <a:noFill/>
        </p:spPr>
        <p:txBody>
          <a:bodyPr wrap="square">
            <a:spAutoFit/>
          </a:bodyPr>
          <a:lstStyle/>
          <a:p>
            <a:pPr algn="l"/>
            <a:r>
              <a:rPr sz="950" b="1" i="0">
                <a:solidFill>
                  <a:srgbClr val="C0392B"/>
                </a:solidFill>
              </a:rPr>
              <a:t>Snowflake Lock-In</a:t>
            </a:r>
          </a:p>
        </p:txBody>
      </p:sp>
      <p:sp>
        <p:nvSpPr>
          <p:cNvPr id="46" name="TextBox 45"/>
          <p:cNvSpPr txBox="1"/>
          <p:nvPr/>
        </p:nvSpPr>
        <p:spPr>
          <a:xfrm>
            <a:off x="6281928" y="1828800"/>
            <a:ext cx="5532120" cy="310896"/>
          </a:xfrm>
          <a:prstGeom prst="rect">
            <a:avLst/>
          </a:prstGeom>
          <a:noFill/>
        </p:spPr>
        <p:txBody>
          <a:bodyPr wrap="square">
            <a:spAutoFit/>
          </a:bodyPr>
          <a:lstStyle/>
          <a:p>
            <a:pPr algn="l"/>
            <a:r>
              <a:rPr sz="800" b="0" i="0">
                <a:solidFill>
                  <a:srgbClr val="3D4D6A"/>
                </a:solidFill>
              </a:rPr>
              <a:t>Platform portability is limited. Migrating NEXUS to another cloud data platform would require rewriting all stored procedures and replacing Cortex with an equivalent managed AI service.</a:t>
            </a:r>
          </a:p>
        </p:txBody>
      </p:sp>
      <p:sp>
        <p:nvSpPr>
          <p:cNvPr id="47" name="Rounded Rectangle 46"/>
          <p:cNvSpPr/>
          <p:nvPr/>
        </p:nvSpPr>
        <p:spPr>
          <a:xfrm>
            <a:off x="6080760" y="2231136"/>
            <a:ext cx="5879592" cy="612648"/>
          </a:xfrm>
          <a:prstGeom prst="roundRect">
            <a:avLst>
              <a:gd name="adj" fmla="val 5000"/>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080760" y="2231136"/>
            <a:ext cx="109728" cy="6126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1928" y="2258568"/>
            <a:ext cx="5532120" cy="228600"/>
          </a:xfrm>
          <a:prstGeom prst="rect">
            <a:avLst/>
          </a:prstGeom>
          <a:noFill/>
        </p:spPr>
        <p:txBody>
          <a:bodyPr wrap="square">
            <a:spAutoFit/>
          </a:bodyPr>
          <a:lstStyle/>
          <a:p>
            <a:pPr algn="l"/>
            <a:r>
              <a:rPr sz="950" b="1" i="0">
                <a:solidFill>
                  <a:srgbClr val="C0392B"/>
                </a:solidFill>
              </a:rPr>
              <a:t>Python SP Package Restrictions</a:t>
            </a:r>
          </a:p>
        </p:txBody>
      </p:sp>
      <p:sp>
        <p:nvSpPr>
          <p:cNvPr id="50" name="TextBox 49"/>
          <p:cNvSpPr txBox="1"/>
          <p:nvPr/>
        </p:nvSpPr>
        <p:spPr>
          <a:xfrm>
            <a:off x="6281928" y="2487168"/>
            <a:ext cx="5532120" cy="310896"/>
          </a:xfrm>
          <a:prstGeom prst="rect">
            <a:avLst/>
          </a:prstGeom>
          <a:noFill/>
        </p:spPr>
        <p:txBody>
          <a:bodyPr wrap="square">
            <a:spAutoFit/>
          </a:bodyPr>
          <a:lstStyle/>
          <a:p>
            <a:pPr algn="l"/>
            <a:r>
              <a:rPr sz="800" b="0" i="0">
                <a:solidFill>
                  <a:srgbClr val="3D4D6A"/>
                </a:solidFill>
              </a:rPr>
              <a:t>Snowpark Python SPs can only use the Snowflake-approved Anaconda channel. Popular libraries like httpx, pydantic, or sqlmodel are not available without native app packaging workarounds.</a:t>
            </a:r>
          </a:p>
        </p:txBody>
      </p:sp>
      <p:sp>
        <p:nvSpPr>
          <p:cNvPr id="51" name="Rounded Rectangle 50"/>
          <p:cNvSpPr/>
          <p:nvPr/>
        </p:nvSpPr>
        <p:spPr>
          <a:xfrm>
            <a:off x="6080760" y="2889504"/>
            <a:ext cx="5879592" cy="612648"/>
          </a:xfrm>
          <a:prstGeom prst="roundRect">
            <a:avLst>
              <a:gd name="adj" fmla="val 5000"/>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80760" y="2889504"/>
            <a:ext cx="109728" cy="6126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81928" y="2916936"/>
            <a:ext cx="5532120" cy="228600"/>
          </a:xfrm>
          <a:prstGeom prst="rect">
            <a:avLst/>
          </a:prstGeom>
          <a:noFill/>
        </p:spPr>
        <p:txBody>
          <a:bodyPr wrap="square">
            <a:spAutoFit/>
          </a:bodyPr>
          <a:lstStyle/>
          <a:p>
            <a:pPr algn="l"/>
            <a:r>
              <a:rPr sz="950" b="1" i="0">
                <a:solidFill>
                  <a:srgbClr val="C0392B"/>
                </a:solidFill>
              </a:rPr>
              <a:t>No Local Development Loop</a:t>
            </a:r>
          </a:p>
        </p:txBody>
      </p:sp>
      <p:sp>
        <p:nvSpPr>
          <p:cNvPr id="54" name="TextBox 53"/>
          <p:cNvSpPr txBox="1"/>
          <p:nvPr/>
        </p:nvSpPr>
        <p:spPr>
          <a:xfrm>
            <a:off x="6281928" y="3145536"/>
            <a:ext cx="5532120" cy="310896"/>
          </a:xfrm>
          <a:prstGeom prst="rect">
            <a:avLst/>
          </a:prstGeom>
          <a:noFill/>
        </p:spPr>
        <p:txBody>
          <a:bodyPr wrap="square">
            <a:spAutoFit/>
          </a:bodyPr>
          <a:lstStyle/>
          <a:p>
            <a:pPr algn="l"/>
            <a:r>
              <a:rPr sz="800" b="0" i="0">
                <a:solidFill>
                  <a:srgbClr val="3D4D6A"/>
                </a:solidFill>
              </a:rPr>
              <a:t>Every SP change requires a Snowflake connection to test. There is no local unit-test framework for Snowpark procedures — debugging requires repeated cloud deploys.</a:t>
            </a:r>
          </a:p>
        </p:txBody>
      </p:sp>
      <p:sp>
        <p:nvSpPr>
          <p:cNvPr id="55" name="Rounded Rectangle 54"/>
          <p:cNvSpPr/>
          <p:nvPr/>
        </p:nvSpPr>
        <p:spPr>
          <a:xfrm>
            <a:off x="6080760" y="3547872"/>
            <a:ext cx="5879592" cy="612648"/>
          </a:xfrm>
          <a:prstGeom prst="roundRect">
            <a:avLst>
              <a:gd name="adj" fmla="val 5000"/>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080760" y="3547872"/>
            <a:ext cx="109728" cy="6126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81928" y="3575303"/>
            <a:ext cx="5532120" cy="228600"/>
          </a:xfrm>
          <a:prstGeom prst="rect">
            <a:avLst/>
          </a:prstGeom>
          <a:noFill/>
        </p:spPr>
        <p:txBody>
          <a:bodyPr wrap="square">
            <a:spAutoFit/>
          </a:bodyPr>
          <a:lstStyle/>
          <a:p>
            <a:pPr algn="l"/>
            <a:r>
              <a:rPr sz="950" b="1" i="0">
                <a:solidFill>
                  <a:srgbClr val="C0392B"/>
                </a:solidFill>
              </a:rPr>
              <a:t>Cortex Model Constraints</a:t>
            </a:r>
          </a:p>
        </p:txBody>
      </p:sp>
      <p:sp>
        <p:nvSpPr>
          <p:cNvPr id="58" name="TextBox 57"/>
          <p:cNvSpPr txBox="1"/>
          <p:nvPr/>
        </p:nvSpPr>
        <p:spPr>
          <a:xfrm>
            <a:off x="6281928" y="3803904"/>
            <a:ext cx="5532120" cy="310896"/>
          </a:xfrm>
          <a:prstGeom prst="rect">
            <a:avLst/>
          </a:prstGeom>
          <a:noFill/>
        </p:spPr>
        <p:txBody>
          <a:bodyPr wrap="square">
            <a:spAutoFit/>
          </a:bodyPr>
          <a:lstStyle/>
          <a:p>
            <a:pPr algn="l"/>
            <a:r>
              <a:rPr sz="800" b="0" i="0">
                <a:solidFill>
                  <a:srgbClr val="3D4D6A"/>
                </a:solidFill>
              </a:rPr>
              <a:t>AI model selection is limited to models supported by SNOWFLAKE.CORTEX.AI_COMPLETE. Fine-tuning is not supported. Context window and token rate limits are controlled by Snowflake, not the team.</a:t>
            </a:r>
          </a:p>
        </p:txBody>
      </p:sp>
      <p:sp>
        <p:nvSpPr>
          <p:cNvPr id="59" name="Rounded Rectangle 58"/>
          <p:cNvSpPr/>
          <p:nvPr/>
        </p:nvSpPr>
        <p:spPr>
          <a:xfrm>
            <a:off x="6080760" y="4206240"/>
            <a:ext cx="5879592" cy="612648"/>
          </a:xfrm>
          <a:prstGeom prst="roundRect">
            <a:avLst>
              <a:gd name="adj" fmla="val 5000"/>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080760" y="4206240"/>
            <a:ext cx="109728" cy="6126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81928" y="4233672"/>
            <a:ext cx="5532120" cy="228600"/>
          </a:xfrm>
          <a:prstGeom prst="rect">
            <a:avLst/>
          </a:prstGeom>
          <a:noFill/>
        </p:spPr>
        <p:txBody>
          <a:bodyPr wrap="square">
            <a:spAutoFit/>
          </a:bodyPr>
          <a:lstStyle/>
          <a:p>
            <a:pPr algn="l"/>
            <a:r>
              <a:rPr sz="950" b="1" i="0">
                <a:solidFill>
                  <a:srgbClr val="C0392B"/>
                </a:solidFill>
              </a:rPr>
              <a:t>Streamlit UI Limitations</a:t>
            </a:r>
          </a:p>
        </p:txBody>
      </p:sp>
      <p:sp>
        <p:nvSpPr>
          <p:cNvPr id="62" name="TextBox 61"/>
          <p:cNvSpPr txBox="1"/>
          <p:nvPr/>
        </p:nvSpPr>
        <p:spPr>
          <a:xfrm>
            <a:off x="6281928" y="4462272"/>
            <a:ext cx="5532120" cy="310896"/>
          </a:xfrm>
          <a:prstGeom prst="rect">
            <a:avLst/>
          </a:prstGeom>
          <a:noFill/>
        </p:spPr>
        <p:txBody>
          <a:bodyPr wrap="square">
            <a:spAutoFit/>
          </a:bodyPr>
          <a:lstStyle/>
          <a:p>
            <a:pPr algn="l"/>
            <a:r>
              <a:rPr sz="800" b="0" i="0">
                <a:solidFill>
                  <a:srgbClr val="3D4D6A"/>
                </a:solidFill>
              </a:rPr>
              <a:t>Streamlit in Snowflake has a smaller component ecosystem than open-source Streamlit. Custom React components, websockets, and some third-party libraries are unavailable or require workarounds.</a:t>
            </a:r>
          </a:p>
        </p:txBody>
      </p:sp>
      <p:sp>
        <p:nvSpPr>
          <p:cNvPr id="63" name="Rounded Rectangle 62"/>
          <p:cNvSpPr/>
          <p:nvPr/>
        </p:nvSpPr>
        <p:spPr>
          <a:xfrm>
            <a:off x="6080760" y="4864607"/>
            <a:ext cx="5879592" cy="612648"/>
          </a:xfrm>
          <a:prstGeom prst="roundRect">
            <a:avLst>
              <a:gd name="adj" fmla="val 5000"/>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80760" y="4864607"/>
            <a:ext cx="109728" cy="6126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81928" y="4892040"/>
            <a:ext cx="5532120" cy="228600"/>
          </a:xfrm>
          <a:prstGeom prst="rect">
            <a:avLst/>
          </a:prstGeom>
          <a:noFill/>
        </p:spPr>
        <p:txBody>
          <a:bodyPr wrap="square">
            <a:spAutoFit/>
          </a:bodyPr>
          <a:lstStyle/>
          <a:p>
            <a:pPr algn="l"/>
            <a:r>
              <a:rPr sz="950" b="1" i="0">
                <a:solidFill>
                  <a:srgbClr val="C0392B"/>
                </a:solidFill>
              </a:rPr>
              <a:t>Compute Cost Visibility</a:t>
            </a:r>
          </a:p>
        </p:txBody>
      </p:sp>
      <p:sp>
        <p:nvSpPr>
          <p:cNvPr id="66" name="TextBox 65"/>
          <p:cNvSpPr txBox="1"/>
          <p:nvPr/>
        </p:nvSpPr>
        <p:spPr>
          <a:xfrm>
            <a:off x="6281928" y="5120640"/>
            <a:ext cx="5532120" cy="310896"/>
          </a:xfrm>
          <a:prstGeom prst="rect">
            <a:avLst/>
          </a:prstGeom>
          <a:noFill/>
        </p:spPr>
        <p:txBody>
          <a:bodyPr wrap="square">
            <a:spAutoFit/>
          </a:bodyPr>
          <a:lstStyle/>
          <a:p>
            <a:pPr algn="l"/>
            <a:r>
              <a:rPr sz="800" b="0" i="0">
                <a:solidFill>
                  <a:srgbClr val="3D4D6A"/>
                </a:solidFill>
              </a:rPr>
              <a:t>AI_COMPLETE calls consume Snowflake credits alongside query compute — it can be difficult to isolate AI spend from pipeline spend without dedicated warehouses per workload.</a:t>
            </a:r>
          </a:p>
        </p:txBody>
      </p:sp>
      <p:sp>
        <p:nvSpPr>
          <p:cNvPr id="67" name="Rounded Rectangle 66"/>
          <p:cNvSpPr/>
          <p:nvPr/>
        </p:nvSpPr>
        <p:spPr>
          <a:xfrm>
            <a:off x="6080760" y="5522976"/>
            <a:ext cx="5879592" cy="612648"/>
          </a:xfrm>
          <a:prstGeom prst="roundRect">
            <a:avLst>
              <a:gd name="adj" fmla="val 5000"/>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080760" y="5522976"/>
            <a:ext cx="109728" cy="6126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81928" y="5550408"/>
            <a:ext cx="5532120" cy="228600"/>
          </a:xfrm>
          <a:prstGeom prst="rect">
            <a:avLst/>
          </a:prstGeom>
          <a:noFill/>
        </p:spPr>
        <p:txBody>
          <a:bodyPr wrap="square">
            <a:spAutoFit/>
          </a:bodyPr>
          <a:lstStyle/>
          <a:p>
            <a:pPr algn="l"/>
            <a:r>
              <a:rPr sz="950" b="1" i="0">
                <a:solidFill>
                  <a:srgbClr val="C0392B"/>
                </a:solidFill>
              </a:rPr>
              <a:t>Latency on First AI Call</a:t>
            </a:r>
          </a:p>
        </p:txBody>
      </p:sp>
      <p:sp>
        <p:nvSpPr>
          <p:cNvPr id="70" name="TextBox 69"/>
          <p:cNvSpPr txBox="1"/>
          <p:nvPr/>
        </p:nvSpPr>
        <p:spPr>
          <a:xfrm>
            <a:off x="6281928" y="5779008"/>
            <a:ext cx="5532120" cy="310896"/>
          </a:xfrm>
          <a:prstGeom prst="rect">
            <a:avLst/>
          </a:prstGeom>
          <a:noFill/>
        </p:spPr>
        <p:txBody>
          <a:bodyPr wrap="square">
            <a:spAutoFit/>
          </a:bodyPr>
          <a:lstStyle/>
          <a:p>
            <a:pPr algn="l"/>
            <a:r>
              <a:rPr sz="800" b="0" i="0">
                <a:solidFill>
                  <a:srgbClr val="3D4D6A"/>
                </a:solidFill>
              </a:rPr>
              <a:t>Cortex cold-start on first call in a session can add latency. Proposal generation for wide tables (&gt;60 cols, 16K token output) can take 15–40 seconds — async patterns not natively available in Streamlit 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1920240"/>
            <a:ext cx="12024360" cy="54864"/>
          </a:xfrm>
          <a:prstGeom prst="rect">
            <a:avLst/>
          </a:prstGeom>
          <a:solidFill>
            <a:srgbClr val="0D8A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10972800" cy="594360"/>
          </a:xfrm>
          <a:prstGeom prst="rect">
            <a:avLst/>
          </a:prstGeom>
          <a:noFill/>
        </p:spPr>
        <p:txBody>
          <a:bodyPr wrap="square">
            <a:spAutoFit/>
          </a:bodyPr>
          <a:lstStyle/>
          <a:p>
            <a:pPr algn="l"/>
            <a:r>
              <a:rPr sz="2800" b="1" i="0">
                <a:solidFill>
                  <a:srgbClr val="FFFFFF"/>
                </a:solidFill>
              </a:rPr>
              <a:t>Where We Are &amp; What's Next</a:t>
            </a:r>
          </a:p>
        </p:txBody>
      </p:sp>
      <p:sp>
        <p:nvSpPr>
          <p:cNvPr id="6" name="Rounded Rectangle 5"/>
          <p:cNvSpPr/>
          <p:nvPr/>
        </p:nvSpPr>
        <p:spPr>
          <a:xfrm>
            <a:off x="502920" y="2148840"/>
            <a:ext cx="2743200" cy="2743200"/>
          </a:xfrm>
          <a:prstGeom prst="roundRect">
            <a:avLst>
              <a:gd name="adj" fmla="val 5000"/>
            </a:avLst>
          </a:prstGeom>
          <a:solidFill>
            <a:srgbClr val="1A3866"/>
          </a:solidFill>
          <a:ln w="2540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212848"/>
            <a:ext cx="1371600" cy="347472"/>
          </a:xfrm>
          <a:prstGeom prst="roundRect">
            <a:avLst>
              <a:gd name="adj" fmla="val 5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31136"/>
            <a:ext cx="1371600" cy="292608"/>
          </a:xfrm>
          <a:prstGeom prst="rect">
            <a:avLst/>
          </a:prstGeom>
          <a:noFill/>
        </p:spPr>
        <p:txBody>
          <a:bodyPr wrap="square">
            <a:spAutoFit/>
          </a:bodyPr>
          <a:lstStyle/>
          <a:p>
            <a:pPr algn="ctr"/>
            <a:r>
              <a:rPr sz="900" b="1" i="0">
                <a:solidFill>
                  <a:srgbClr val="FFFFFF"/>
                </a:solidFill>
              </a:rPr>
              <a:t>COMPLETE</a:t>
            </a:r>
          </a:p>
        </p:txBody>
      </p:sp>
      <p:sp>
        <p:nvSpPr>
          <p:cNvPr id="9" name="TextBox 8"/>
          <p:cNvSpPr txBox="1"/>
          <p:nvPr/>
        </p:nvSpPr>
        <p:spPr>
          <a:xfrm>
            <a:off x="640080" y="2624328"/>
            <a:ext cx="2468880" cy="594360"/>
          </a:xfrm>
          <a:prstGeom prst="rect">
            <a:avLst/>
          </a:prstGeom>
          <a:noFill/>
        </p:spPr>
        <p:txBody>
          <a:bodyPr wrap="square">
            <a:spAutoFit/>
          </a:bodyPr>
          <a:lstStyle/>
          <a:p>
            <a:pPr algn="l"/>
            <a:r>
              <a:rPr sz="1200" b="1" i="0">
                <a:solidFill>
                  <a:srgbClr val="198A55"/>
                </a:solidFill>
              </a:rPr>
              <a:t>Phase 1
FOUNDATION</a:t>
            </a:r>
          </a:p>
        </p:txBody>
      </p:sp>
      <p:sp>
        <p:nvSpPr>
          <p:cNvPr id="10" name="TextBox 9"/>
          <p:cNvSpPr txBox="1"/>
          <p:nvPr/>
        </p:nvSpPr>
        <p:spPr>
          <a:xfrm>
            <a:off x="640080" y="3291840"/>
            <a:ext cx="2514600" cy="1508760"/>
          </a:xfrm>
          <a:prstGeom prst="rect">
            <a:avLst/>
          </a:prstGeom>
          <a:noFill/>
        </p:spPr>
        <p:txBody>
          <a:bodyPr wrap="square">
            <a:spAutoFit/>
          </a:bodyPr>
          <a:lstStyle/>
          <a:p>
            <a:pPr algn="l"/>
            <a:r>
              <a:rPr sz="950" b="0" i="0">
                <a:solidFill>
                  <a:srgbClr val="A8C7E8"/>
                </a:solidFill>
              </a:rPr>
              <a:t>Database &amp; schemas · 12 registry tables
Abbreviation table (Erwin .ABR sync)
Versioned system prompt · Reference hubs</a:t>
            </a:r>
          </a:p>
        </p:txBody>
      </p:sp>
      <p:sp>
        <p:nvSpPr>
          <p:cNvPr id="11" name="Rounded Rectangle 10"/>
          <p:cNvSpPr/>
          <p:nvPr/>
        </p:nvSpPr>
        <p:spPr>
          <a:xfrm>
            <a:off x="3383280" y="2148840"/>
            <a:ext cx="2743200" cy="2743200"/>
          </a:xfrm>
          <a:prstGeom prst="roundRect">
            <a:avLst>
              <a:gd name="adj" fmla="val 5000"/>
            </a:avLst>
          </a:prstGeom>
          <a:solidFill>
            <a:srgbClr val="1A3866"/>
          </a:solidFill>
          <a:ln w="25400">
            <a:solidFill>
              <a:srgbClr val="198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20440" y="2212848"/>
            <a:ext cx="1371600" cy="347472"/>
          </a:xfrm>
          <a:prstGeom prst="roundRect">
            <a:avLst>
              <a:gd name="adj" fmla="val 5000"/>
            </a:avLst>
          </a:prstGeom>
          <a:solidFill>
            <a:srgbClr val="198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2231136"/>
            <a:ext cx="1371600" cy="292608"/>
          </a:xfrm>
          <a:prstGeom prst="rect">
            <a:avLst/>
          </a:prstGeom>
          <a:noFill/>
        </p:spPr>
        <p:txBody>
          <a:bodyPr wrap="square">
            <a:spAutoFit/>
          </a:bodyPr>
          <a:lstStyle/>
          <a:p>
            <a:pPr algn="ctr"/>
            <a:r>
              <a:rPr sz="900" b="1" i="0">
                <a:solidFill>
                  <a:srgbClr val="FFFFFF"/>
                </a:solidFill>
              </a:rPr>
              <a:t>COMPLETE</a:t>
            </a:r>
          </a:p>
        </p:txBody>
      </p:sp>
      <p:sp>
        <p:nvSpPr>
          <p:cNvPr id="14" name="TextBox 13"/>
          <p:cNvSpPr txBox="1"/>
          <p:nvPr/>
        </p:nvSpPr>
        <p:spPr>
          <a:xfrm>
            <a:off x="3520440" y="2624328"/>
            <a:ext cx="2468880" cy="594360"/>
          </a:xfrm>
          <a:prstGeom prst="rect">
            <a:avLst/>
          </a:prstGeom>
          <a:noFill/>
        </p:spPr>
        <p:txBody>
          <a:bodyPr wrap="square">
            <a:spAutoFit/>
          </a:bodyPr>
          <a:lstStyle/>
          <a:p>
            <a:pPr algn="l"/>
            <a:r>
              <a:rPr sz="1200" b="1" i="0">
                <a:solidFill>
                  <a:srgbClr val="198A55"/>
                </a:solidFill>
              </a:rPr>
              <a:t>Phase 2
PROFILING</a:t>
            </a:r>
          </a:p>
        </p:txBody>
      </p:sp>
      <p:sp>
        <p:nvSpPr>
          <p:cNvPr id="15" name="TextBox 14"/>
          <p:cNvSpPr txBox="1"/>
          <p:nvPr/>
        </p:nvSpPr>
        <p:spPr>
          <a:xfrm>
            <a:off x="3520440" y="3291840"/>
            <a:ext cx="2514600" cy="1508760"/>
          </a:xfrm>
          <a:prstGeom prst="rect">
            <a:avLst/>
          </a:prstGeom>
          <a:noFill/>
        </p:spPr>
        <p:txBody>
          <a:bodyPr wrap="square">
            <a:spAutoFit/>
          </a:bodyPr>
          <a:lstStyle/>
          <a:p>
            <a:pPr algn="l"/>
            <a:r>
              <a:rPr sz="950" b="0" i="0">
                <a:solidFill>
                  <a:srgbClr val="A8C7E8"/>
                </a:solidFill>
              </a:rPr>
              <a:t>SP_PROFILE_TABLE (EXACT + HLL)
PK candidate scoring &amp; detection
Change frequency classification</a:t>
            </a:r>
          </a:p>
        </p:txBody>
      </p:sp>
      <p:sp>
        <p:nvSpPr>
          <p:cNvPr id="16" name="Rounded Rectangle 15"/>
          <p:cNvSpPr/>
          <p:nvPr/>
        </p:nvSpPr>
        <p:spPr>
          <a:xfrm>
            <a:off x="6263640" y="2148840"/>
            <a:ext cx="2743200" cy="2743200"/>
          </a:xfrm>
          <a:prstGeom prst="roundRect">
            <a:avLst>
              <a:gd name="adj" fmla="val 5000"/>
            </a:avLst>
          </a:prstGeom>
          <a:solidFill>
            <a:srgbClr val="1A3866"/>
          </a:solidFill>
          <a:ln w="254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0" y="2212848"/>
            <a:ext cx="1371600" cy="347472"/>
          </a:xfrm>
          <a:prstGeom prst="roundRect">
            <a:avLst>
              <a:gd name="adj" fmla="val 5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231136"/>
            <a:ext cx="1371600" cy="292608"/>
          </a:xfrm>
          <a:prstGeom prst="rect">
            <a:avLst/>
          </a:prstGeom>
          <a:noFill/>
        </p:spPr>
        <p:txBody>
          <a:bodyPr wrap="square">
            <a:spAutoFit/>
          </a:bodyPr>
          <a:lstStyle/>
          <a:p>
            <a:pPr algn="ctr"/>
            <a:r>
              <a:rPr sz="900" b="1" i="0">
                <a:solidFill>
                  <a:srgbClr val="FFFFFF"/>
                </a:solidFill>
              </a:rPr>
              <a:t>IN PROGRESS</a:t>
            </a:r>
          </a:p>
        </p:txBody>
      </p:sp>
      <p:sp>
        <p:nvSpPr>
          <p:cNvPr id="19" name="TextBox 18"/>
          <p:cNvSpPr txBox="1"/>
          <p:nvPr/>
        </p:nvSpPr>
        <p:spPr>
          <a:xfrm>
            <a:off x="6400800" y="2624328"/>
            <a:ext cx="2468880" cy="594360"/>
          </a:xfrm>
          <a:prstGeom prst="rect">
            <a:avLst/>
          </a:prstGeom>
          <a:noFill/>
        </p:spPr>
        <p:txBody>
          <a:bodyPr wrap="square">
            <a:spAutoFit/>
          </a:bodyPr>
          <a:lstStyle/>
          <a:p>
            <a:pPr algn="l"/>
            <a:r>
              <a:rPr sz="1200" b="1" i="0">
                <a:solidFill>
                  <a:srgbClr val="F39C12"/>
                </a:solidFill>
              </a:rPr>
              <a:t>Phase 3
AI WORKBENCH</a:t>
            </a:r>
          </a:p>
        </p:txBody>
      </p:sp>
      <p:sp>
        <p:nvSpPr>
          <p:cNvPr id="20" name="TextBox 19"/>
          <p:cNvSpPr txBox="1"/>
          <p:nvPr/>
        </p:nvSpPr>
        <p:spPr>
          <a:xfrm>
            <a:off x="6400800" y="3291840"/>
            <a:ext cx="2514600" cy="1508760"/>
          </a:xfrm>
          <a:prstGeom prst="rect">
            <a:avLst/>
          </a:prstGeom>
          <a:noFill/>
        </p:spPr>
        <p:txBody>
          <a:bodyPr wrap="square">
            <a:spAutoFit/>
          </a:bodyPr>
          <a:lstStyle/>
          <a:p>
            <a:pPr algn="l"/>
            <a:r>
              <a:rPr sz="950" b="0" i="0">
                <a:solidFill>
                  <a:srgbClr val="A8C7E8"/>
                </a:solidFill>
              </a:rPr>
              <a:t>SP_GENERATE_DV_PROPOSAL · Claude Opus 4.6
Design Workbench (Streamlit)
Approve → Registry → Audit log</a:t>
            </a:r>
          </a:p>
        </p:txBody>
      </p:sp>
      <p:sp>
        <p:nvSpPr>
          <p:cNvPr id="21" name="Rounded Rectangle 20"/>
          <p:cNvSpPr/>
          <p:nvPr/>
        </p:nvSpPr>
        <p:spPr>
          <a:xfrm>
            <a:off x="9144000" y="2148840"/>
            <a:ext cx="2743200" cy="2743200"/>
          </a:xfrm>
          <a:prstGeom prst="roundRect">
            <a:avLst>
              <a:gd name="adj" fmla="val 5000"/>
            </a:avLst>
          </a:prstGeom>
          <a:solidFill>
            <a:srgbClr val="1A3866"/>
          </a:solidFill>
          <a:ln w="25400">
            <a:solidFill>
              <a:srgbClr val="3A4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81160" y="2212848"/>
            <a:ext cx="1371600" cy="347472"/>
          </a:xfrm>
          <a:prstGeom prst="roundRect">
            <a:avLst>
              <a:gd name="adj" fmla="val 5000"/>
            </a:avLst>
          </a:prstGeom>
          <a:solidFill>
            <a:srgbClr val="3A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2231136"/>
            <a:ext cx="1371600" cy="292608"/>
          </a:xfrm>
          <a:prstGeom prst="rect">
            <a:avLst/>
          </a:prstGeom>
          <a:noFill/>
        </p:spPr>
        <p:txBody>
          <a:bodyPr wrap="square">
            <a:spAutoFit/>
          </a:bodyPr>
          <a:lstStyle/>
          <a:p>
            <a:pPr algn="ctr"/>
            <a:r>
              <a:rPr sz="900" b="1" i="0">
                <a:solidFill>
                  <a:srgbClr val="FFFFFF"/>
                </a:solidFill>
              </a:rPr>
              <a:t>PLANNED</a:t>
            </a:r>
          </a:p>
        </p:txBody>
      </p:sp>
      <p:sp>
        <p:nvSpPr>
          <p:cNvPr id="24" name="TextBox 23"/>
          <p:cNvSpPr txBox="1"/>
          <p:nvPr/>
        </p:nvSpPr>
        <p:spPr>
          <a:xfrm>
            <a:off x="9281160" y="2624328"/>
            <a:ext cx="2468880" cy="594360"/>
          </a:xfrm>
          <a:prstGeom prst="rect">
            <a:avLst/>
          </a:prstGeom>
          <a:noFill/>
        </p:spPr>
        <p:txBody>
          <a:bodyPr wrap="square">
            <a:spAutoFit/>
          </a:bodyPr>
          <a:lstStyle/>
          <a:p>
            <a:pPr algn="l"/>
            <a:r>
              <a:rPr sz="1200" b="1" i="0">
                <a:solidFill>
                  <a:srgbClr val="3A4A60"/>
                </a:solidFill>
              </a:rPr>
              <a:t>Phase 4
dbt GENERATION</a:t>
            </a:r>
          </a:p>
        </p:txBody>
      </p:sp>
      <p:sp>
        <p:nvSpPr>
          <p:cNvPr id="25" name="TextBox 24"/>
          <p:cNvSpPr txBox="1"/>
          <p:nvPr/>
        </p:nvSpPr>
        <p:spPr>
          <a:xfrm>
            <a:off x="9281160" y="3291840"/>
            <a:ext cx="2514600" cy="1508760"/>
          </a:xfrm>
          <a:prstGeom prst="rect">
            <a:avLst/>
          </a:prstGeom>
          <a:noFill/>
        </p:spPr>
        <p:txBody>
          <a:bodyPr wrap="square">
            <a:spAutoFit/>
          </a:bodyPr>
          <a:lstStyle/>
          <a:p>
            <a:pPr algn="l"/>
            <a:r>
              <a:rPr sz="950" b="0" i="0">
                <a:solidFill>
                  <a:srgbClr val="A8C7E8"/>
                </a:solidFill>
              </a:rPr>
              <a:t>Generate stg / hub / sat / lnk models
Hash key templates from registry
Satellite split by change frequency</a:t>
            </a:r>
          </a:p>
        </p:txBody>
      </p:sp>
      <p:sp>
        <p:nvSpPr>
          <p:cNvPr id="26" name="TextBox 25"/>
          <p:cNvSpPr txBox="1"/>
          <p:nvPr/>
        </p:nvSpPr>
        <p:spPr>
          <a:xfrm>
            <a:off x="457200" y="5074920"/>
            <a:ext cx="5486400" cy="347472"/>
          </a:xfrm>
          <a:prstGeom prst="rect">
            <a:avLst/>
          </a:prstGeom>
          <a:noFill/>
        </p:spPr>
        <p:txBody>
          <a:bodyPr wrap="square">
            <a:spAutoFit/>
          </a:bodyPr>
          <a:lstStyle/>
          <a:p>
            <a:pPr algn="l"/>
            <a:r>
              <a:rPr sz="1300" b="1" i="0">
                <a:solidFill>
                  <a:srgbClr val="0D8A84"/>
                </a:solidFill>
              </a:rPr>
              <a:t>Platform at a Glance</a:t>
            </a:r>
          </a:p>
        </p:txBody>
      </p:sp>
      <p:sp>
        <p:nvSpPr>
          <p:cNvPr id="27" name="TextBox 26"/>
          <p:cNvSpPr txBox="1"/>
          <p:nvPr/>
        </p:nvSpPr>
        <p:spPr>
          <a:xfrm>
            <a:off x="502920" y="5440680"/>
            <a:ext cx="1371600" cy="640080"/>
          </a:xfrm>
          <a:prstGeom prst="rect">
            <a:avLst/>
          </a:prstGeom>
          <a:noFill/>
        </p:spPr>
        <p:txBody>
          <a:bodyPr wrap="square">
            <a:spAutoFit/>
          </a:bodyPr>
          <a:lstStyle/>
          <a:p>
            <a:pPr algn="ctr"/>
            <a:r>
              <a:rPr sz="4000" b="1" i="0">
                <a:solidFill>
                  <a:srgbClr val="0D8A84"/>
                </a:solidFill>
              </a:rPr>
              <a:t>12</a:t>
            </a:r>
          </a:p>
        </p:txBody>
      </p:sp>
      <p:sp>
        <p:nvSpPr>
          <p:cNvPr id="28" name="TextBox 27"/>
          <p:cNvSpPr txBox="1"/>
          <p:nvPr/>
        </p:nvSpPr>
        <p:spPr>
          <a:xfrm>
            <a:off x="502920" y="6080760"/>
            <a:ext cx="2103120" cy="411480"/>
          </a:xfrm>
          <a:prstGeom prst="rect">
            <a:avLst/>
          </a:prstGeom>
          <a:noFill/>
        </p:spPr>
        <p:txBody>
          <a:bodyPr wrap="square">
            <a:spAutoFit/>
          </a:bodyPr>
          <a:lstStyle/>
          <a:p>
            <a:pPr algn="ctr"/>
            <a:r>
              <a:rPr sz="900" b="0" i="0">
                <a:solidFill>
                  <a:srgbClr val="A8C7E8"/>
                </a:solidFill>
              </a:rPr>
              <a:t>META Registry Tables</a:t>
            </a:r>
          </a:p>
        </p:txBody>
      </p:sp>
      <p:sp>
        <p:nvSpPr>
          <p:cNvPr id="29" name="TextBox 28"/>
          <p:cNvSpPr txBox="1"/>
          <p:nvPr/>
        </p:nvSpPr>
        <p:spPr>
          <a:xfrm>
            <a:off x="2834639" y="5440680"/>
            <a:ext cx="1371600" cy="640080"/>
          </a:xfrm>
          <a:prstGeom prst="rect">
            <a:avLst/>
          </a:prstGeom>
          <a:noFill/>
        </p:spPr>
        <p:txBody>
          <a:bodyPr wrap="square">
            <a:spAutoFit/>
          </a:bodyPr>
          <a:lstStyle/>
          <a:p>
            <a:pPr algn="ctr"/>
            <a:r>
              <a:rPr sz="4000" b="1" i="0">
                <a:solidFill>
                  <a:srgbClr val="0D8A84"/>
                </a:solidFill>
              </a:rPr>
              <a:t>7</a:t>
            </a:r>
          </a:p>
        </p:txBody>
      </p:sp>
      <p:sp>
        <p:nvSpPr>
          <p:cNvPr id="30" name="TextBox 29"/>
          <p:cNvSpPr txBox="1"/>
          <p:nvPr/>
        </p:nvSpPr>
        <p:spPr>
          <a:xfrm>
            <a:off x="2834639" y="6080760"/>
            <a:ext cx="2103120" cy="411480"/>
          </a:xfrm>
          <a:prstGeom prst="rect">
            <a:avLst/>
          </a:prstGeom>
          <a:noFill/>
        </p:spPr>
        <p:txBody>
          <a:bodyPr wrap="square">
            <a:spAutoFit/>
          </a:bodyPr>
          <a:lstStyle/>
          <a:p>
            <a:pPr algn="ctr"/>
            <a:r>
              <a:rPr sz="900" b="0" i="0">
                <a:solidFill>
                  <a:srgbClr val="A8C7E8"/>
                </a:solidFill>
              </a:rPr>
              <a:t>System Prompt Sections</a:t>
            </a:r>
          </a:p>
        </p:txBody>
      </p:sp>
      <p:sp>
        <p:nvSpPr>
          <p:cNvPr id="31" name="TextBox 30"/>
          <p:cNvSpPr txBox="1"/>
          <p:nvPr/>
        </p:nvSpPr>
        <p:spPr>
          <a:xfrm>
            <a:off x="5166359" y="5440680"/>
            <a:ext cx="1371600" cy="640080"/>
          </a:xfrm>
          <a:prstGeom prst="rect">
            <a:avLst/>
          </a:prstGeom>
          <a:noFill/>
        </p:spPr>
        <p:txBody>
          <a:bodyPr wrap="square">
            <a:spAutoFit/>
          </a:bodyPr>
          <a:lstStyle/>
          <a:p>
            <a:pPr algn="ctr"/>
            <a:r>
              <a:rPr sz="4000" b="1" i="0">
                <a:solidFill>
                  <a:srgbClr val="0D8A84"/>
                </a:solidFill>
              </a:rPr>
              <a:t>4</a:t>
            </a:r>
          </a:p>
        </p:txBody>
      </p:sp>
      <p:sp>
        <p:nvSpPr>
          <p:cNvPr id="32" name="TextBox 31"/>
          <p:cNvSpPr txBox="1"/>
          <p:nvPr/>
        </p:nvSpPr>
        <p:spPr>
          <a:xfrm>
            <a:off x="5166359" y="6080760"/>
            <a:ext cx="2103120" cy="411480"/>
          </a:xfrm>
          <a:prstGeom prst="rect">
            <a:avLst/>
          </a:prstGeom>
          <a:noFill/>
        </p:spPr>
        <p:txBody>
          <a:bodyPr wrap="square">
            <a:spAutoFit/>
          </a:bodyPr>
          <a:lstStyle/>
          <a:p>
            <a:pPr algn="ctr"/>
            <a:r>
              <a:rPr sz="900" b="0" i="0">
                <a:solidFill>
                  <a:srgbClr val="A8C7E8"/>
                </a:solidFill>
              </a:rPr>
              <a:t>Input Scenarios
(Full Profile → Inference)</a:t>
            </a:r>
          </a:p>
        </p:txBody>
      </p:sp>
      <p:sp>
        <p:nvSpPr>
          <p:cNvPr id="33" name="TextBox 32"/>
          <p:cNvSpPr txBox="1"/>
          <p:nvPr/>
        </p:nvSpPr>
        <p:spPr>
          <a:xfrm>
            <a:off x="7498079" y="5440680"/>
            <a:ext cx="1371600" cy="640080"/>
          </a:xfrm>
          <a:prstGeom prst="rect">
            <a:avLst/>
          </a:prstGeom>
          <a:noFill/>
        </p:spPr>
        <p:txBody>
          <a:bodyPr wrap="square">
            <a:spAutoFit/>
          </a:bodyPr>
          <a:lstStyle/>
          <a:p>
            <a:pPr algn="ctr"/>
            <a:r>
              <a:rPr sz="4000" b="1" i="0">
                <a:solidFill>
                  <a:srgbClr val="0D8A84"/>
                </a:solidFill>
              </a:rPr>
              <a:t>5</a:t>
            </a:r>
          </a:p>
        </p:txBody>
      </p:sp>
      <p:sp>
        <p:nvSpPr>
          <p:cNvPr id="34" name="TextBox 33"/>
          <p:cNvSpPr txBox="1"/>
          <p:nvPr/>
        </p:nvSpPr>
        <p:spPr>
          <a:xfrm>
            <a:off x="7498079" y="6080760"/>
            <a:ext cx="2103120" cy="411480"/>
          </a:xfrm>
          <a:prstGeom prst="rect">
            <a:avLst/>
          </a:prstGeom>
          <a:noFill/>
        </p:spPr>
        <p:txBody>
          <a:bodyPr wrap="square">
            <a:spAutoFit/>
          </a:bodyPr>
          <a:lstStyle/>
          <a:p>
            <a:pPr algn="ctr"/>
            <a:r>
              <a:rPr sz="900" b="0" i="0">
                <a:solidFill>
                  <a:srgbClr val="A8C7E8"/>
                </a:solidFill>
              </a:rPr>
              <a:t>Context Layers
per AI Call</a:t>
            </a:r>
          </a:p>
        </p:txBody>
      </p:sp>
      <p:sp>
        <p:nvSpPr>
          <p:cNvPr id="35" name="TextBox 34"/>
          <p:cNvSpPr txBox="1"/>
          <p:nvPr/>
        </p:nvSpPr>
        <p:spPr>
          <a:xfrm>
            <a:off x="9829800" y="5440680"/>
            <a:ext cx="1371600" cy="640080"/>
          </a:xfrm>
          <a:prstGeom prst="rect">
            <a:avLst/>
          </a:prstGeom>
          <a:noFill/>
        </p:spPr>
        <p:txBody>
          <a:bodyPr wrap="square">
            <a:spAutoFit/>
          </a:bodyPr>
          <a:lstStyle/>
          <a:p>
            <a:pPr algn="ctr"/>
            <a:r>
              <a:rPr sz="4000" b="1" i="0">
                <a:solidFill>
                  <a:srgbClr val="0D8A84"/>
                </a:solidFill>
              </a:rPr>
              <a:t>100</a:t>
            </a:r>
          </a:p>
        </p:txBody>
      </p:sp>
      <p:sp>
        <p:nvSpPr>
          <p:cNvPr id="36" name="TextBox 35"/>
          <p:cNvSpPr txBox="1"/>
          <p:nvPr/>
        </p:nvSpPr>
        <p:spPr>
          <a:xfrm>
            <a:off x="9829800" y="6080760"/>
            <a:ext cx="2103120" cy="411480"/>
          </a:xfrm>
          <a:prstGeom prst="rect">
            <a:avLst/>
          </a:prstGeom>
          <a:noFill/>
        </p:spPr>
        <p:txBody>
          <a:bodyPr wrap="square">
            <a:spAutoFit/>
          </a:bodyPr>
          <a:lstStyle/>
          <a:p>
            <a:pPr algn="ctr"/>
            <a:r>
              <a:rPr sz="900" b="0" i="0">
                <a:solidFill>
                  <a:srgbClr val="A8C7E8"/>
                </a:solidFill>
              </a:rPr>
              <a:t>PK Score for Modeler
Confirmed Keys</a:t>
            </a:r>
          </a:p>
        </p:txBody>
      </p:sp>
      <p:sp>
        <p:nvSpPr>
          <p:cNvPr id="37" name="Rectangle 36"/>
          <p:cNvSpPr/>
          <p:nvPr/>
        </p:nvSpPr>
        <p:spPr>
          <a:xfrm>
            <a:off x="0" y="6629400"/>
            <a:ext cx="12188952" cy="228600"/>
          </a:xfrm>
          <a:prstGeom prst="rect">
            <a:avLst/>
          </a:prstGeom>
          <a:solidFill>
            <a:srgbClr val="0A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6647688"/>
            <a:ext cx="10972800" cy="182880"/>
          </a:xfrm>
          <a:prstGeom prst="rect">
            <a:avLst/>
          </a:prstGeom>
          <a:noFill/>
        </p:spPr>
        <p:txBody>
          <a:bodyPr wrap="square">
            <a:spAutoFit/>
          </a:bodyPr>
          <a:lstStyle/>
          <a:p>
            <a:pPr algn="l"/>
            <a:r>
              <a:rPr sz="800" b="0" i="0">
                <a:solidFill>
                  <a:srgbClr val="809ABF"/>
                </a:solidFill>
              </a:rPr>
              <a:t>NEXUS DV2.0  |  AI-Assisted Data Vault Automation  |  Built on Snowflake Cortex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